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CareBridge is a proposed concept, not a deployed or clinically validated system. The competition name and theme are submission context supplied by the team, not independently verified competition facts. Risk in this proposal concerns failure to complete a care step, not medical deterioration.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concern is continuity, not a claim that rural healthcare is entirely broken. A journey can break between any two steps. Missing records are not proof that care did not happen; patient or facility confirmation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MVP uses simple checks, not a trained prediction model. Missing confirmation prompts a check with the patient or facility; it is not proof of a missed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synthetic illustrative case and a prototype interface, not evidence of a deployed product. The seven-day deadline is doctor-assigned for the example, not medical guidance. A completed step continues the timeline. An unconfirmed or delayed step triggers a barrier check and ASHA/ANM alert, followed by human intervention and facility confirmation. Unconfirmed arrival alone does not prove nonattendance.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synthetic illustrative case and a prototype interface, not evidence of a deployed product. The seven-day deadline is doctor-assigned for the example, not medical guidance. A completed step continues the timeline. An unconfirmed or delayed step triggers a barrier check and ASHA/ANM alert, followed by human intervention and facility confirmation. Unconfirmed arrival alone does not prove nonattendance.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proposed AI tasks: read a referral slip, understand local-language voice, and suggest practical help. Workers verify the details and approve help. Doctors retain all clinical decisions. Simple rules flag unconfirmed referrals; the MVP does not use trained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stack choices are proposed, not existing integrations or production capabilities. Offline support means capture and queued synchronization, not cloud AI operating without connectivity. Pilot outcomes would be measured, with no promised impact percentages. Expansion follows validation: one PHC, then a PHC network, then district and wider network. No current partnerships or integrations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closing statement describes the purpose of the proposed system, not an achieved or guaranteed clinical outcome. CareBridge keeps clinical authority with doctors and operational intervention with frontline workers.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640080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CAREBRIDGE · Team Missionary — IIT Guwahati</a:t>
            </a:r>
            <a:endParaRPr lang="en-US" sz="10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2545"/>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3.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2.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3.xml"/><Relationship Id="rId11"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 healthcare worker in a rural village talking warmly with a patient.">    </p:cNvPr>
          <p:cNvPicPr>
            <a:picLocks noChangeAspect="1"/>
          </p:cNvPicPr>
          <p:nvPr/>
        </p:nvPicPr>
        <p:blipFill>
          <a:blip r:embed="rId1"/>
          <a:srcRect l="0" r="0" t="0" b="0"/>
          <a:stretch/>
        </p:blipFill>
        <p:spPr>
          <a:xfrm>
            <a:off x="7616952" y="0"/>
            <a:ext cx="4572000" cy="6858000"/>
          </a:xfrm>
          <a:prstGeom prst="rect">
            <a:avLst/>
          </a:prstGeom>
        </p:spPr>
      </p:pic>
      <p:sp>
        <p:nvSpPr>
          <p:cNvPr id="3" name="Text 0"/>
          <p:cNvSpPr txBox="1"/>
          <p:nvPr/>
        </p:nvSpPr>
        <p:spPr>
          <a:xfrm>
            <a:off x="731520" y="1188720"/>
            <a:ext cx="6583680" cy="320040"/>
          </a:xfrm>
          <a:prstGeom prst="rect">
            <a:avLst/>
          </a:prstGeom>
          <a:noFill/>
          <a:ln/>
        </p:spPr>
        <p:txBody>
          <a:bodyPr wrap="square" lIns="0" tIns="0" rIns="0" bIns="0" rtlCol="0" anchor="ctr"/>
          <a:lstStyle/>
          <a:p>
            <a:pPr indent="0" marL="0">
              <a:buNone/>
            </a:pPr>
            <a:r>
              <a:rPr lang="en-US" sz="1200" b="1" spc="200" kern="0" dirty="0">
                <a:solidFill>
                  <a:srgbClr val="9CC7EE"/>
                </a:solidFill>
                <a:latin typeface="Calibri" pitchFamily="34" charset="0"/>
                <a:ea typeface="Calibri" pitchFamily="34" charset="-122"/>
                <a:cs typeface="Calibri" pitchFamily="34" charset="-120"/>
              </a:rPr>
              <a:t>HACKATHON CONCEPT  ·  HEALTHCARE FOR EVERY INDIVIDUAL</a:t>
            </a:r>
            <a:endParaRPr lang="en-US" sz="1200" dirty="0"/>
          </a:p>
        </p:txBody>
      </p:sp>
      <p:sp>
        <p:nvSpPr>
          <p:cNvPr id="4" name="Text 1"/>
          <p:cNvSpPr txBox="1"/>
          <p:nvPr/>
        </p:nvSpPr>
        <p:spPr>
          <a:xfrm>
            <a:off x="731520" y="1600200"/>
            <a:ext cx="6675120" cy="1188720"/>
          </a:xfrm>
          <a:prstGeom prst="rect">
            <a:avLst/>
          </a:prstGeom>
          <a:noFill/>
          <a:ln/>
        </p:spPr>
        <p:txBody>
          <a:bodyPr wrap="square" lIns="0" tIns="0" rIns="0" bIns="0" rtlCol="0" anchor="ctr"/>
          <a:lstStyle/>
          <a:p>
            <a:pPr indent="0" marL="0">
              <a:buNone/>
            </a:pPr>
            <a:r>
              <a:rPr lang="en-US" sz="7200" b="1" spc="200" kern="0" dirty="0">
                <a:solidFill>
                  <a:srgbClr val="FFFFFF"/>
                </a:solidFill>
                <a:latin typeface="Calibri" pitchFamily="34" charset="0"/>
                <a:ea typeface="Calibri" pitchFamily="34" charset="-122"/>
                <a:cs typeface="Calibri" pitchFamily="34" charset="-120"/>
              </a:rPr>
              <a:t>CAREBRIDGE</a:t>
            </a:r>
            <a:endParaRPr lang="en-US" sz="7200" dirty="0"/>
          </a:p>
        </p:txBody>
      </p:sp>
      <p:sp>
        <p:nvSpPr>
          <p:cNvPr id="5" name="Text 2"/>
          <p:cNvSpPr txBox="1"/>
          <p:nvPr/>
        </p:nvSpPr>
        <p:spPr>
          <a:xfrm>
            <a:off x="731520" y="2834640"/>
            <a:ext cx="6035040" cy="914400"/>
          </a:xfrm>
          <a:prstGeom prst="rect">
            <a:avLst/>
          </a:prstGeom>
          <a:noFill/>
          <a:ln/>
        </p:spPr>
        <p:txBody>
          <a:bodyPr wrap="square" lIns="0" tIns="0" rIns="0" bIns="0" rtlCol="0" anchor="t"/>
          <a:lstStyle/>
          <a:p>
            <a:pPr indent="0" marL="0">
              <a:buNone/>
            </a:pPr>
            <a:r>
              <a:rPr lang="en-US" sz="2400" dirty="0">
                <a:solidFill>
                  <a:srgbClr val="C9D8E8"/>
                </a:solidFill>
                <a:latin typeface="Calibri" pitchFamily="34" charset="0"/>
                <a:ea typeface="Calibri" pitchFamily="34" charset="-122"/>
                <a:cs typeface="Calibri" pitchFamily="34" charset="-120"/>
              </a:rPr>
              <a:t>Bridging the gap between care prescribed and care completed.</a:t>
            </a:r>
            <a:endParaRPr lang="en-US" sz="2400" dirty="0"/>
          </a:p>
        </p:txBody>
      </p:sp>
      <p:sp>
        <p:nvSpPr>
          <p:cNvPr id="6" name="Shape 3"/>
          <p:cNvSpPr/>
          <p:nvPr/>
        </p:nvSpPr>
        <p:spPr>
          <a:xfrm>
            <a:off x="731520" y="3931920"/>
            <a:ext cx="420624" cy="420624"/>
          </a:xfrm>
          <a:prstGeom prst="ellipse">
            <a:avLst/>
          </a:prstGeom>
          <a:solidFill>
            <a:srgbClr val="1A4A85"/>
          </a:solidFill>
          <a:ln/>
        </p:spPr>
      </p:sp>
      <p:pic>
        <p:nvPicPr>
          <p:cNvPr id="7" name="Image 1" descr="preencoded.png">    </p:cNvPr>
          <p:cNvPicPr>
            <a:picLocks noChangeAspect="1"/>
          </p:cNvPicPr>
          <p:nvPr/>
        </p:nvPicPr>
        <p:blipFill>
          <a:blip r:embed="rId2"/>
          <a:stretch>
            <a:fillRect/>
          </a:stretch>
        </p:blipFill>
        <p:spPr>
          <a:xfrm>
            <a:off x="826160" y="4026560"/>
            <a:ext cx="231343" cy="231343"/>
          </a:xfrm>
          <a:prstGeom prst="rect">
            <a:avLst/>
          </a:prstGeom>
        </p:spPr>
      </p:pic>
      <p:sp>
        <p:nvSpPr>
          <p:cNvPr id="8" name="Shape 4"/>
          <p:cNvSpPr/>
          <p:nvPr/>
        </p:nvSpPr>
        <p:spPr>
          <a:xfrm>
            <a:off x="1298448" y="3931920"/>
            <a:ext cx="420624" cy="420624"/>
          </a:xfrm>
          <a:prstGeom prst="ellipse">
            <a:avLst/>
          </a:prstGeom>
          <a:solidFill>
            <a:srgbClr val="1A4A85"/>
          </a:solidFill>
          <a:ln/>
        </p:spPr>
      </p:sp>
      <p:pic>
        <p:nvPicPr>
          <p:cNvPr id="9" name="Image 2" descr="preencoded.png">    </p:cNvPr>
          <p:cNvPicPr>
            <a:picLocks noChangeAspect="1"/>
          </p:cNvPicPr>
          <p:nvPr/>
        </p:nvPicPr>
        <p:blipFill>
          <a:blip r:embed="rId3"/>
          <a:stretch>
            <a:fillRect/>
          </a:stretch>
        </p:blipFill>
        <p:spPr>
          <a:xfrm>
            <a:off x="1393088" y="4026560"/>
            <a:ext cx="231343" cy="231343"/>
          </a:xfrm>
          <a:prstGeom prst="rect">
            <a:avLst/>
          </a:prstGeom>
        </p:spPr>
      </p:pic>
      <p:sp>
        <p:nvSpPr>
          <p:cNvPr id="10" name="Shape 5"/>
          <p:cNvSpPr/>
          <p:nvPr/>
        </p:nvSpPr>
        <p:spPr>
          <a:xfrm>
            <a:off x="1865376" y="3931920"/>
            <a:ext cx="420624" cy="420624"/>
          </a:xfrm>
          <a:prstGeom prst="ellipse">
            <a:avLst/>
          </a:prstGeom>
          <a:solidFill>
            <a:srgbClr val="1A4A85"/>
          </a:solidFill>
          <a:ln/>
        </p:spPr>
      </p:sp>
      <p:pic>
        <p:nvPicPr>
          <p:cNvPr id="11" name="Image 3" descr="preencoded.png">    </p:cNvPr>
          <p:cNvPicPr>
            <a:picLocks noChangeAspect="1"/>
          </p:cNvPicPr>
          <p:nvPr/>
        </p:nvPicPr>
        <p:blipFill>
          <a:blip r:embed="rId4"/>
          <a:stretch>
            <a:fillRect/>
          </a:stretch>
        </p:blipFill>
        <p:spPr>
          <a:xfrm>
            <a:off x="1960016" y="4026560"/>
            <a:ext cx="231343" cy="231343"/>
          </a:xfrm>
          <a:prstGeom prst="rect">
            <a:avLst/>
          </a:prstGeom>
        </p:spPr>
      </p:pic>
      <p:sp>
        <p:nvSpPr>
          <p:cNvPr id="12" name="Shape 6"/>
          <p:cNvSpPr/>
          <p:nvPr/>
        </p:nvSpPr>
        <p:spPr>
          <a:xfrm>
            <a:off x="2432304" y="3931920"/>
            <a:ext cx="420624" cy="420624"/>
          </a:xfrm>
          <a:prstGeom prst="ellipse">
            <a:avLst/>
          </a:prstGeom>
          <a:solidFill>
            <a:srgbClr val="2E9E6B"/>
          </a:solidFill>
          <a:ln/>
        </p:spPr>
      </p:sp>
      <p:pic>
        <p:nvPicPr>
          <p:cNvPr id="13" name="Image 4" descr="preencoded.png">    </p:cNvPr>
          <p:cNvPicPr>
            <a:picLocks noChangeAspect="1"/>
          </p:cNvPicPr>
          <p:nvPr/>
        </p:nvPicPr>
        <p:blipFill>
          <a:blip r:embed="rId5"/>
          <a:stretch>
            <a:fillRect/>
          </a:stretch>
        </p:blipFill>
        <p:spPr>
          <a:xfrm>
            <a:off x="2526944" y="4026560"/>
            <a:ext cx="231343" cy="231343"/>
          </a:xfrm>
          <a:prstGeom prst="rect">
            <a:avLst/>
          </a:prstGeom>
        </p:spPr>
      </p:pic>
      <p:sp>
        <p:nvSpPr>
          <p:cNvPr id="14" name="Shape 7"/>
          <p:cNvSpPr/>
          <p:nvPr/>
        </p:nvSpPr>
        <p:spPr>
          <a:xfrm>
            <a:off x="2999232" y="3931920"/>
            <a:ext cx="420624" cy="420624"/>
          </a:xfrm>
          <a:prstGeom prst="ellipse">
            <a:avLst/>
          </a:prstGeom>
          <a:solidFill>
            <a:srgbClr val="1A4A85"/>
          </a:solidFill>
          <a:ln/>
        </p:spPr>
      </p:sp>
      <p:pic>
        <p:nvPicPr>
          <p:cNvPr id="15" name="Image 5" descr="preencoded.png">    </p:cNvPr>
          <p:cNvPicPr>
            <a:picLocks noChangeAspect="1"/>
          </p:cNvPicPr>
          <p:nvPr/>
        </p:nvPicPr>
        <p:blipFill>
          <a:blip r:embed="rId6"/>
          <a:stretch>
            <a:fillRect/>
          </a:stretch>
        </p:blipFill>
        <p:spPr>
          <a:xfrm>
            <a:off x="3093872" y="4026560"/>
            <a:ext cx="231343" cy="231343"/>
          </a:xfrm>
          <a:prstGeom prst="rect">
            <a:avLst/>
          </a:prstGeom>
        </p:spPr>
      </p:pic>
      <p:sp>
        <p:nvSpPr>
          <p:cNvPr id="16" name="Text 8"/>
          <p:cNvSpPr txBox="1"/>
          <p:nvPr/>
        </p:nvSpPr>
        <p:spPr>
          <a:xfrm>
            <a:off x="731520" y="4663440"/>
            <a:ext cx="5943600" cy="502920"/>
          </a:xfrm>
          <a:prstGeom prst="rect">
            <a:avLst/>
          </a:prstGeom>
          <a:noFill/>
          <a:ln/>
        </p:spPr>
        <p:txBody>
          <a:bodyPr wrap="square" lIns="0" tIns="0" rIns="0" bIns="0" rtlCol="0" anchor="ctr"/>
          <a:lstStyle/>
          <a:p>
            <a:pPr indent="0" marL="0">
              <a:buNone/>
            </a:pPr>
            <a:r>
              <a:rPr lang="en-US" sz="2600" b="1" spc="500" kern="0" dirty="0">
                <a:solidFill>
                  <a:srgbClr val="FFFFFF"/>
                </a:solidFill>
                <a:latin typeface="Calibri" pitchFamily="34" charset="0"/>
                <a:ea typeface="Calibri" pitchFamily="34" charset="-122"/>
                <a:cs typeface="Calibri" pitchFamily="34" charset="-120"/>
              </a:rPr>
              <a:t>TEAM MISSIONARY</a:t>
            </a:r>
            <a:endParaRPr lang="en-US" sz="2600" dirty="0"/>
          </a:p>
        </p:txBody>
      </p:sp>
      <p:sp>
        <p:nvSpPr>
          <p:cNvPr id="17" name="Text 9"/>
          <p:cNvSpPr txBox="1"/>
          <p:nvPr/>
        </p:nvSpPr>
        <p:spPr>
          <a:xfrm>
            <a:off x="731520" y="5166360"/>
            <a:ext cx="5943600" cy="411480"/>
          </a:xfrm>
          <a:prstGeom prst="rect">
            <a:avLst/>
          </a:prstGeom>
          <a:noFill/>
          <a:ln/>
        </p:spPr>
        <p:txBody>
          <a:bodyPr wrap="square" lIns="0" tIns="0" rIns="0" bIns="0" rtlCol="0" anchor="ctr"/>
          <a:lstStyle/>
          <a:p>
            <a:pPr indent="0" marL="0">
              <a:buNone/>
            </a:pPr>
            <a:r>
              <a:rPr lang="en-US" sz="1800" dirty="0">
                <a:solidFill>
                  <a:srgbClr val="9CC7EE"/>
                </a:solidFill>
                <a:latin typeface="Calibri" pitchFamily="34" charset="0"/>
                <a:ea typeface="Calibri" pitchFamily="34" charset="-122"/>
                <a:cs typeface="Calibri" pitchFamily="34" charset="-120"/>
              </a:rPr>
              <a:t>IIT Guwahati</a:t>
            </a:r>
            <a:endParaRPr lang="en-US" sz="1800" dirty="0"/>
          </a:p>
        </p:txBody>
      </p:sp>
      <p:sp>
        <p:nvSpPr>
          <p:cNvPr id="18" name="Text 10"/>
          <p:cNvSpPr txBox="1"/>
          <p:nvPr/>
        </p:nvSpPr>
        <p:spPr>
          <a:xfrm>
            <a:off x="731520" y="6172200"/>
            <a:ext cx="6583680" cy="274320"/>
          </a:xfrm>
          <a:prstGeom prst="rect">
            <a:avLst/>
          </a:prstGeom>
          <a:noFill/>
          <a:ln/>
        </p:spPr>
        <p:txBody>
          <a:bodyPr wrap="square" lIns="0" tIns="0" rIns="0" bIns="0" rtlCol="0" anchor="ctr"/>
          <a:lstStyle/>
          <a:p>
            <a:pPr indent="0" marL="0">
              <a:buNone/>
            </a:pPr>
            <a:r>
              <a:rPr lang="en-US" sz="1100" dirty="0">
                <a:solidFill>
                  <a:srgbClr val="8DA2B8"/>
                </a:solidFill>
                <a:latin typeface="Calibri" pitchFamily="34" charset="0"/>
                <a:ea typeface="Calibri" pitchFamily="34" charset="-122"/>
                <a:cs typeface="Calibri" pitchFamily="34" charset="-120"/>
              </a:rPr>
              <a:t>Proposed concept — not a deployed or clinically validated system.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12648" y="384048"/>
            <a:ext cx="10972800" cy="274320"/>
          </a:xfrm>
          <a:prstGeom prst="rect">
            <a:avLst/>
          </a:prstGeom>
          <a:noFill/>
          <a:ln/>
        </p:spPr>
        <p:txBody>
          <a:bodyPr wrap="square" lIns="0" tIns="0" rIns="0" bIns="0" rtlCol="0" anchor="ctr"/>
          <a:lstStyle/>
          <a:p>
            <a:pPr indent="0" marL="0">
              <a:buNone/>
            </a:pPr>
            <a:r>
              <a:rPr lang="en-US" sz="1200" b="1" spc="200" kern="0" dirty="0">
                <a:solidFill>
                  <a:srgbClr val="1F6FB2"/>
                </a:solidFill>
                <a:latin typeface="Calibri" pitchFamily="34" charset="0"/>
                <a:ea typeface="Calibri" pitchFamily="34" charset="-122"/>
                <a:cs typeface="Calibri" pitchFamily="34" charset="-120"/>
              </a:rPr>
              <a:t>02 — THE IDEA IN ONE LINE</a:t>
            </a:r>
            <a:endParaRPr lang="en-US" sz="1200" dirty="0"/>
          </a:p>
        </p:txBody>
      </p:sp>
      <p:sp>
        <p:nvSpPr>
          <p:cNvPr id="3" name="Text 1"/>
          <p:cNvSpPr txBox="1"/>
          <p:nvPr/>
        </p:nvSpPr>
        <p:spPr>
          <a:xfrm>
            <a:off x="612648" y="685800"/>
            <a:ext cx="10972800" cy="731520"/>
          </a:xfrm>
          <a:prstGeom prst="rect">
            <a:avLst/>
          </a:prstGeom>
          <a:noFill/>
          <a:ln/>
        </p:spPr>
        <p:txBody>
          <a:bodyPr wrap="square" lIns="0" tIns="0" rIns="0" bIns="0" rtlCol="0" anchor="ctr"/>
          <a:lstStyle/>
          <a:p>
            <a:pPr indent="0" marL="0">
              <a:buNone/>
            </a:pPr>
            <a:r>
              <a:rPr lang="en-US" sz="3600" b="1" dirty="0">
                <a:solidFill>
                  <a:srgbClr val="0B2545"/>
                </a:solidFill>
                <a:latin typeface="Calibri" pitchFamily="34" charset="0"/>
                <a:ea typeface="Calibri" pitchFamily="34" charset="-122"/>
                <a:cs typeface="Calibri" pitchFamily="34" charset="-120"/>
              </a:rPr>
              <a:t>Refer → Help → Confirm</a:t>
            </a:r>
            <a:endParaRPr lang="en-US" sz="3600" dirty="0"/>
          </a:p>
        </p:txBody>
      </p:sp>
      <p:sp>
        <p:nvSpPr>
          <p:cNvPr id="4" name="Shape 2"/>
          <p:cNvSpPr/>
          <p:nvPr/>
        </p:nvSpPr>
        <p:spPr>
          <a:xfrm>
            <a:off x="612648" y="1737360"/>
            <a:ext cx="3108960" cy="3246120"/>
          </a:xfrm>
          <a:prstGeom prst="roundRect">
            <a:avLst>
              <a:gd name="adj" fmla="val 3529"/>
            </a:avLst>
          </a:prstGeom>
          <a:solidFill>
            <a:srgbClr val="F4F7FB"/>
          </a:solidFill>
          <a:ln/>
        </p:spPr>
      </p:sp>
      <p:sp>
        <p:nvSpPr>
          <p:cNvPr id="5" name="Shape 3"/>
          <p:cNvSpPr/>
          <p:nvPr/>
        </p:nvSpPr>
        <p:spPr>
          <a:xfrm>
            <a:off x="978408" y="2057400"/>
            <a:ext cx="914400" cy="914400"/>
          </a:xfrm>
          <a:prstGeom prst="ellipse">
            <a:avLst/>
          </a:prstGeom>
          <a:solidFill>
            <a:srgbClr val="1F6FB2"/>
          </a:solidFill>
          <a:ln/>
        </p:spPr>
      </p:sp>
      <p:pic>
        <p:nvPicPr>
          <p:cNvPr id="6" name="Image 0" descr="preencoded.png">    </p:cNvPr>
          <p:cNvPicPr>
            <a:picLocks noChangeAspect="1"/>
          </p:cNvPicPr>
          <p:nvPr/>
        </p:nvPicPr>
        <p:blipFill>
          <a:blip r:embed="rId1"/>
          <a:stretch>
            <a:fillRect/>
          </a:stretch>
        </p:blipFill>
        <p:spPr>
          <a:xfrm>
            <a:off x="1197864" y="2276856"/>
            <a:ext cx="475488" cy="475488"/>
          </a:xfrm>
          <a:prstGeom prst="rect">
            <a:avLst/>
          </a:prstGeom>
        </p:spPr>
      </p:pic>
      <p:sp>
        <p:nvSpPr>
          <p:cNvPr id="7" name="Text 4"/>
          <p:cNvSpPr txBox="1"/>
          <p:nvPr/>
        </p:nvSpPr>
        <p:spPr>
          <a:xfrm>
            <a:off x="2807208" y="2103120"/>
            <a:ext cx="640080" cy="365760"/>
          </a:xfrm>
          <a:prstGeom prst="rect">
            <a:avLst/>
          </a:prstGeom>
          <a:noFill/>
          <a:ln/>
        </p:spPr>
        <p:txBody>
          <a:bodyPr wrap="square" lIns="0" tIns="0" rIns="0" bIns="0" rtlCol="0" anchor="ctr"/>
          <a:lstStyle/>
          <a:p>
            <a:pPr algn="r" indent="0" marL="0">
              <a:buNone/>
            </a:pPr>
            <a:r>
              <a:rPr lang="en-US" sz="1600" b="1" dirty="0">
                <a:solidFill>
                  <a:srgbClr val="64748B"/>
                </a:solidFill>
                <a:latin typeface="Calibri" pitchFamily="34" charset="0"/>
                <a:ea typeface="Calibri" pitchFamily="34" charset="-122"/>
                <a:cs typeface="Calibri" pitchFamily="34" charset="-120"/>
              </a:rPr>
              <a:t>01</a:t>
            </a:r>
            <a:endParaRPr lang="en-US" sz="1600" dirty="0"/>
          </a:p>
        </p:txBody>
      </p:sp>
      <p:sp>
        <p:nvSpPr>
          <p:cNvPr id="8" name="Text 5"/>
          <p:cNvSpPr txBox="1"/>
          <p:nvPr/>
        </p:nvSpPr>
        <p:spPr>
          <a:xfrm>
            <a:off x="978408" y="3200400"/>
            <a:ext cx="2468880" cy="594360"/>
          </a:xfrm>
          <a:prstGeom prst="rect">
            <a:avLst/>
          </a:prstGeom>
          <a:noFill/>
          <a:ln/>
        </p:spPr>
        <p:txBody>
          <a:bodyPr wrap="square" lIns="0" tIns="0" rIns="0" bIns="0" rtlCol="0" anchor="ctr"/>
          <a:lstStyle/>
          <a:p>
            <a:pPr indent="0" marL="0">
              <a:buNone/>
            </a:pPr>
            <a:r>
              <a:rPr lang="en-US" sz="3200" b="1" dirty="0">
                <a:solidFill>
                  <a:srgbClr val="0B2545"/>
                </a:solidFill>
                <a:latin typeface="Calibri" pitchFamily="34" charset="0"/>
                <a:ea typeface="Calibri" pitchFamily="34" charset="-122"/>
                <a:cs typeface="Calibri" pitchFamily="34" charset="-120"/>
              </a:rPr>
              <a:t>Refer</a:t>
            </a:r>
            <a:endParaRPr lang="en-US" sz="3200" dirty="0"/>
          </a:p>
        </p:txBody>
      </p:sp>
      <p:sp>
        <p:nvSpPr>
          <p:cNvPr id="9" name="Text 6"/>
          <p:cNvSpPr txBox="1"/>
          <p:nvPr/>
        </p:nvSpPr>
        <p:spPr>
          <a:xfrm>
            <a:off x="978408" y="3840480"/>
            <a:ext cx="2468880" cy="914400"/>
          </a:xfrm>
          <a:prstGeom prst="rect">
            <a:avLst/>
          </a:prstGeom>
          <a:noFill/>
          <a:ln/>
        </p:spPr>
        <p:txBody>
          <a:bodyPr wrap="square" lIns="0" tIns="0" rIns="0" bIns="0" rtlCol="0" anchor="t"/>
          <a:lstStyle/>
          <a:p>
            <a:pPr indent="0" marL="0">
              <a:buNone/>
            </a:pPr>
            <a:r>
              <a:rPr lang="en-US" sz="1600" dirty="0">
                <a:solidFill>
                  <a:srgbClr val="334155"/>
                </a:solidFill>
                <a:latin typeface="Calibri" pitchFamily="34" charset="0"/>
                <a:ea typeface="Calibri" pitchFamily="34" charset="-122"/>
                <a:cs typeface="Calibri" pitchFamily="34" charset="-120"/>
              </a:rPr>
              <a:t>The doctor's referral is recorded.</a:t>
            </a:r>
            <a:endParaRPr lang="en-US" sz="1600" dirty="0"/>
          </a:p>
        </p:txBody>
      </p:sp>
      <p:pic>
        <p:nvPicPr>
          <p:cNvPr id="10" name="Image 1" descr="preencoded.png">    </p:cNvPr>
          <p:cNvPicPr>
            <a:picLocks noChangeAspect="1"/>
          </p:cNvPicPr>
          <p:nvPr/>
        </p:nvPicPr>
        <p:blipFill>
          <a:blip r:embed="rId2"/>
          <a:stretch>
            <a:fillRect/>
          </a:stretch>
        </p:blipFill>
        <p:spPr>
          <a:xfrm>
            <a:off x="3813048" y="3017520"/>
            <a:ext cx="640080" cy="640080"/>
          </a:xfrm>
          <a:prstGeom prst="rect">
            <a:avLst/>
          </a:prstGeom>
        </p:spPr>
      </p:pic>
      <p:sp>
        <p:nvSpPr>
          <p:cNvPr id="11" name="Shape 7"/>
          <p:cNvSpPr/>
          <p:nvPr/>
        </p:nvSpPr>
        <p:spPr>
          <a:xfrm>
            <a:off x="4544568" y="1737360"/>
            <a:ext cx="3108960" cy="3246120"/>
          </a:xfrm>
          <a:prstGeom prst="roundRect">
            <a:avLst>
              <a:gd name="adj" fmla="val 3529"/>
            </a:avLst>
          </a:prstGeom>
          <a:solidFill>
            <a:srgbClr val="F4F7FB"/>
          </a:solidFill>
          <a:ln/>
        </p:spPr>
      </p:sp>
      <p:sp>
        <p:nvSpPr>
          <p:cNvPr id="12" name="Shape 8"/>
          <p:cNvSpPr/>
          <p:nvPr/>
        </p:nvSpPr>
        <p:spPr>
          <a:xfrm>
            <a:off x="4910328" y="2057400"/>
            <a:ext cx="914400" cy="914400"/>
          </a:xfrm>
          <a:prstGeom prst="ellipse">
            <a:avLst/>
          </a:prstGeom>
          <a:solidFill>
            <a:srgbClr val="1F6FB2"/>
          </a:solidFill>
          <a:ln/>
        </p:spPr>
      </p:sp>
      <p:pic>
        <p:nvPicPr>
          <p:cNvPr id="13" name="Image 2" descr="preencoded.png">    </p:cNvPr>
          <p:cNvPicPr>
            <a:picLocks noChangeAspect="1"/>
          </p:cNvPicPr>
          <p:nvPr/>
        </p:nvPicPr>
        <p:blipFill>
          <a:blip r:embed="rId3"/>
          <a:stretch>
            <a:fillRect/>
          </a:stretch>
        </p:blipFill>
        <p:spPr>
          <a:xfrm>
            <a:off x="5129784" y="2276856"/>
            <a:ext cx="475488" cy="475488"/>
          </a:xfrm>
          <a:prstGeom prst="rect">
            <a:avLst/>
          </a:prstGeom>
        </p:spPr>
      </p:pic>
      <p:sp>
        <p:nvSpPr>
          <p:cNvPr id="14" name="Text 9"/>
          <p:cNvSpPr txBox="1"/>
          <p:nvPr/>
        </p:nvSpPr>
        <p:spPr>
          <a:xfrm>
            <a:off x="6739128" y="2103120"/>
            <a:ext cx="640080" cy="365760"/>
          </a:xfrm>
          <a:prstGeom prst="rect">
            <a:avLst/>
          </a:prstGeom>
          <a:noFill/>
          <a:ln/>
        </p:spPr>
        <p:txBody>
          <a:bodyPr wrap="square" lIns="0" tIns="0" rIns="0" bIns="0" rtlCol="0" anchor="ctr"/>
          <a:lstStyle/>
          <a:p>
            <a:pPr algn="r" indent="0" marL="0">
              <a:buNone/>
            </a:pPr>
            <a:r>
              <a:rPr lang="en-US" sz="1600" b="1" dirty="0">
                <a:solidFill>
                  <a:srgbClr val="64748B"/>
                </a:solidFill>
                <a:latin typeface="Calibri" pitchFamily="34" charset="0"/>
                <a:ea typeface="Calibri" pitchFamily="34" charset="-122"/>
                <a:cs typeface="Calibri" pitchFamily="34" charset="-120"/>
              </a:rPr>
              <a:t>02</a:t>
            </a:r>
            <a:endParaRPr lang="en-US" sz="1600" dirty="0"/>
          </a:p>
        </p:txBody>
      </p:sp>
      <p:sp>
        <p:nvSpPr>
          <p:cNvPr id="15" name="Text 10"/>
          <p:cNvSpPr txBox="1"/>
          <p:nvPr/>
        </p:nvSpPr>
        <p:spPr>
          <a:xfrm>
            <a:off x="4910328" y="3200400"/>
            <a:ext cx="2468880" cy="594360"/>
          </a:xfrm>
          <a:prstGeom prst="rect">
            <a:avLst/>
          </a:prstGeom>
          <a:noFill/>
          <a:ln/>
        </p:spPr>
        <p:txBody>
          <a:bodyPr wrap="square" lIns="0" tIns="0" rIns="0" bIns="0" rtlCol="0" anchor="ctr"/>
          <a:lstStyle/>
          <a:p>
            <a:pPr indent="0" marL="0">
              <a:buNone/>
            </a:pPr>
            <a:r>
              <a:rPr lang="en-US" sz="3200" b="1" dirty="0">
                <a:solidFill>
                  <a:srgbClr val="0B2545"/>
                </a:solidFill>
                <a:latin typeface="Calibri" pitchFamily="34" charset="0"/>
                <a:ea typeface="Calibri" pitchFamily="34" charset="-122"/>
                <a:cs typeface="Calibri" pitchFamily="34" charset="-120"/>
              </a:rPr>
              <a:t>Help</a:t>
            </a:r>
            <a:endParaRPr lang="en-US" sz="3200" dirty="0"/>
          </a:p>
        </p:txBody>
      </p:sp>
      <p:sp>
        <p:nvSpPr>
          <p:cNvPr id="16" name="Text 11"/>
          <p:cNvSpPr txBox="1"/>
          <p:nvPr/>
        </p:nvSpPr>
        <p:spPr>
          <a:xfrm>
            <a:off x="4910328" y="3840480"/>
            <a:ext cx="2468880" cy="914400"/>
          </a:xfrm>
          <a:prstGeom prst="rect">
            <a:avLst/>
          </a:prstGeom>
          <a:noFill/>
          <a:ln/>
        </p:spPr>
        <p:txBody>
          <a:bodyPr wrap="square" lIns="0" tIns="0" rIns="0" bIns="0" rtlCol="0" anchor="t"/>
          <a:lstStyle/>
          <a:p>
            <a:pPr indent="0" marL="0">
              <a:buNone/>
            </a:pPr>
            <a:r>
              <a:rPr lang="en-US" sz="1600" dirty="0">
                <a:solidFill>
                  <a:srgbClr val="334155"/>
                </a:solidFill>
                <a:latin typeface="Calibri" pitchFamily="34" charset="0"/>
                <a:ea typeface="Calibri" pitchFamily="34" charset="-122"/>
                <a:cs typeface="Calibri" pitchFamily="34" charset="-120"/>
              </a:rPr>
              <a:t>The worker asks what is holding it up and responds to the reason.</a:t>
            </a:r>
            <a:endParaRPr lang="en-US" sz="1600" dirty="0"/>
          </a:p>
        </p:txBody>
      </p:sp>
      <p:pic>
        <p:nvPicPr>
          <p:cNvPr id="17" name="Image 3" descr="preencoded.png">    </p:cNvPr>
          <p:cNvPicPr>
            <a:picLocks noChangeAspect="1"/>
          </p:cNvPicPr>
          <p:nvPr/>
        </p:nvPicPr>
        <p:blipFill>
          <a:blip r:embed="rId4"/>
          <a:stretch>
            <a:fillRect/>
          </a:stretch>
        </p:blipFill>
        <p:spPr>
          <a:xfrm>
            <a:off x="7744968" y="3017520"/>
            <a:ext cx="640080" cy="640080"/>
          </a:xfrm>
          <a:prstGeom prst="rect">
            <a:avLst/>
          </a:prstGeom>
        </p:spPr>
      </p:pic>
      <p:sp>
        <p:nvSpPr>
          <p:cNvPr id="18" name="Shape 12"/>
          <p:cNvSpPr/>
          <p:nvPr/>
        </p:nvSpPr>
        <p:spPr>
          <a:xfrm>
            <a:off x="8476488" y="1737360"/>
            <a:ext cx="3108960" cy="3246120"/>
          </a:xfrm>
          <a:prstGeom prst="roundRect">
            <a:avLst>
              <a:gd name="adj" fmla="val 3529"/>
            </a:avLst>
          </a:prstGeom>
          <a:solidFill>
            <a:srgbClr val="F4F7FB"/>
          </a:solidFill>
          <a:ln/>
        </p:spPr>
      </p:sp>
      <p:sp>
        <p:nvSpPr>
          <p:cNvPr id="19" name="Shape 13"/>
          <p:cNvSpPr/>
          <p:nvPr/>
        </p:nvSpPr>
        <p:spPr>
          <a:xfrm>
            <a:off x="8842248" y="2057400"/>
            <a:ext cx="914400" cy="914400"/>
          </a:xfrm>
          <a:prstGeom prst="ellipse">
            <a:avLst/>
          </a:prstGeom>
          <a:solidFill>
            <a:srgbClr val="2E9E6B"/>
          </a:solidFill>
          <a:ln/>
        </p:spPr>
      </p:sp>
      <p:pic>
        <p:nvPicPr>
          <p:cNvPr id="20" name="Image 4" descr="preencoded.png">    </p:cNvPr>
          <p:cNvPicPr>
            <a:picLocks noChangeAspect="1"/>
          </p:cNvPicPr>
          <p:nvPr/>
        </p:nvPicPr>
        <p:blipFill>
          <a:blip r:embed="rId5"/>
          <a:stretch>
            <a:fillRect/>
          </a:stretch>
        </p:blipFill>
        <p:spPr>
          <a:xfrm>
            <a:off x="9061704" y="2276856"/>
            <a:ext cx="475488" cy="475488"/>
          </a:xfrm>
          <a:prstGeom prst="rect">
            <a:avLst/>
          </a:prstGeom>
        </p:spPr>
      </p:pic>
      <p:sp>
        <p:nvSpPr>
          <p:cNvPr id="21" name="Text 14"/>
          <p:cNvSpPr txBox="1"/>
          <p:nvPr/>
        </p:nvSpPr>
        <p:spPr>
          <a:xfrm>
            <a:off x="10671048" y="2103120"/>
            <a:ext cx="640080" cy="365760"/>
          </a:xfrm>
          <a:prstGeom prst="rect">
            <a:avLst/>
          </a:prstGeom>
          <a:noFill/>
          <a:ln/>
        </p:spPr>
        <p:txBody>
          <a:bodyPr wrap="square" lIns="0" tIns="0" rIns="0" bIns="0" rtlCol="0" anchor="ctr"/>
          <a:lstStyle/>
          <a:p>
            <a:pPr algn="r" indent="0" marL="0">
              <a:buNone/>
            </a:pPr>
            <a:r>
              <a:rPr lang="en-US" sz="1600" b="1" dirty="0">
                <a:solidFill>
                  <a:srgbClr val="64748B"/>
                </a:solidFill>
                <a:latin typeface="Calibri" pitchFamily="34" charset="0"/>
                <a:ea typeface="Calibri" pitchFamily="34" charset="-122"/>
                <a:cs typeface="Calibri" pitchFamily="34" charset="-120"/>
              </a:rPr>
              <a:t>03</a:t>
            </a:r>
            <a:endParaRPr lang="en-US" sz="1600" dirty="0"/>
          </a:p>
        </p:txBody>
      </p:sp>
      <p:sp>
        <p:nvSpPr>
          <p:cNvPr id="22" name="Text 15"/>
          <p:cNvSpPr txBox="1"/>
          <p:nvPr/>
        </p:nvSpPr>
        <p:spPr>
          <a:xfrm>
            <a:off x="8842248" y="3200400"/>
            <a:ext cx="2468880" cy="594360"/>
          </a:xfrm>
          <a:prstGeom prst="rect">
            <a:avLst/>
          </a:prstGeom>
          <a:noFill/>
          <a:ln/>
        </p:spPr>
        <p:txBody>
          <a:bodyPr wrap="square" lIns="0" tIns="0" rIns="0" bIns="0" rtlCol="0" anchor="ctr"/>
          <a:lstStyle/>
          <a:p>
            <a:pPr indent="0" marL="0">
              <a:buNone/>
            </a:pPr>
            <a:r>
              <a:rPr lang="en-US" sz="3200" b="1" dirty="0">
                <a:solidFill>
                  <a:srgbClr val="0B2545"/>
                </a:solidFill>
                <a:latin typeface="Calibri" pitchFamily="34" charset="0"/>
                <a:ea typeface="Calibri" pitchFamily="34" charset="-122"/>
                <a:cs typeface="Calibri" pitchFamily="34" charset="-120"/>
              </a:rPr>
              <a:t>Confirm</a:t>
            </a:r>
            <a:endParaRPr lang="en-US" sz="3200" dirty="0"/>
          </a:p>
        </p:txBody>
      </p:sp>
      <p:sp>
        <p:nvSpPr>
          <p:cNvPr id="23" name="Text 16"/>
          <p:cNvSpPr txBox="1"/>
          <p:nvPr/>
        </p:nvSpPr>
        <p:spPr>
          <a:xfrm>
            <a:off x="8842248" y="3840480"/>
            <a:ext cx="2468880" cy="914400"/>
          </a:xfrm>
          <a:prstGeom prst="rect">
            <a:avLst/>
          </a:prstGeom>
          <a:noFill/>
          <a:ln/>
        </p:spPr>
        <p:txBody>
          <a:bodyPr wrap="square" lIns="0" tIns="0" rIns="0" bIns="0" rtlCol="0" anchor="t"/>
          <a:lstStyle/>
          <a:p>
            <a:pPr indent="0" marL="0">
              <a:buNone/>
            </a:pPr>
            <a:r>
              <a:rPr lang="en-US" sz="1600" dirty="0">
                <a:solidFill>
                  <a:srgbClr val="334155"/>
                </a:solidFill>
                <a:latin typeface="Calibri" pitchFamily="34" charset="0"/>
                <a:ea typeface="Calibri" pitchFamily="34" charset="-122"/>
                <a:cs typeface="Calibri" pitchFamily="34" charset="-120"/>
              </a:rPr>
              <a:t>Confirm arrival and the next step.</a:t>
            </a:r>
            <a:endParaRPr lang="en-US" sz="1600" dirty="0"/>
          </a:p>
        </p:txBody>
      </p:sp>
      <p:sp>
        <p:nvSpPr>
          <p:cNvPr id="24" name="Shape 17"/>
          <p:cNvSpPr/>
          <p:nvPr/>
        </p:nvSpPr>
        <p:spPr>
          <a:xfrm>
            <a:off x="612648" y="5257800"/>
            <a:ext cx="10972800" cy="868680"/>
          </a:xfrm>
          <a:prstGeom prst="roundRect">
            <a:avLst>
              <a:gd name="adj" fmla="val 12632"/>
            </a:avLst>
          </a:prstGeom>
          <a:solidFill>
            <a:srgbClr val="0B2545"/>
          </a:solidFill>
          <a:ln/>
        </p:spPr>
      </p:sp>
      <p:sp>
        <p:nvSpPr>
          <p:cNvPr id="25" name="Text 18"/>
          <p:cNvSpPr txBox="1"/>
          <p:nvPr/>
        </p:nvSpPr>
        <p:spPr>
          <a:xfrm>
            <a:off x="914400" y="5257800"/>
            <a:ext cx="10424160" cy="8686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CAREBRIDGE </a:t>
            </a:r>
            <a:pPr indent="0" marL="0">
              <a:buNone/>
            </a:pPr>
            <a:r>
              <a:rPr lang="en-US" sz="1800" dirty="0">
                <a:solidFill>
                  <a:srgbClr val="C9D8E8"/>
                </a:solidFill>
                <a:latin typeface="Calibri" pitchFamily="34" charset="0"/>
                <a:ea typeface="Calibri" pitchFamily="34" charset="-122"/>
                <a:cs typeface="Calibri" pitchFamily="34" charset="-120"/>
              </a:rPr>
              <a:t>helps a worker ask what is holding up a referral, respond to the reason and confirm the next step.</a:t>
            </a:r>
            <a:endParaRPr lang="en-US" sz="18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12648" y="384048"/>
            <a:ext cx="10972800" cy="274320"/>
          </a:xfrm>
          <a:prstGeom prst="rect">
            <a:avLst/>
          </a:prstGeom>
          <a:noFill/>
          <a:ln/>
        </p:spPr>
        <p:txBody>
          <a:bodyPr wrap="square" lIns="0" tIns="0" rIns="0" bIns="0" rtlCol="0" anchor="ctr"/>
          <a:lstStyle/>
          <a:p>
            <a:pPr indent="0" marL="0">
              <a:buNone/>
            </a:pPr>
            <a:r>
              <a:rPr lang="en-US" sz="1200" b="1" spc="200" kern="0" dirty="0">
                <a:solidFill>
                  <a:srgbClr val="1F6FB2"/>
                </a:solidFill>
                <a:latin typeface="Calibri" pitchFamily="34" charset="0"/>
                <a:ea typeface="Calibri" pitchFamily="34" charset="-122"/>
                <a:cs typeface="Calibri" pitchFamily="34" charset="-120"/>
              </a:rPr>
              <a:t>03 — THE GAP</a:t>
            </a:r>
            <a:endParaRPr lang="en-US" sz="1200" dirty="0"/>
          </a:p>
        </p:txBody>
      </p:sp>
      <p:sp>
        <p:nvSpPr>
          <p:cNvPr id="3" name="Text 1"/>
          <p:cNvSpPr txBox="1"/>
          <p:nvPr/>
        </p:nvSpPr>
        <p:spPr>
          <a:xfrm>
            <a:off x="612648" y="685800"/>
            <a:ext cx="10972800" cy="731520"/>
          </a:xfrm>
          <a:prstGeom prst="rect">
            <a:avLst/>
          </a:prstGeom>
          <a:noFill/>
          <a:ln/>
        </p:spPr>
        <p:txBody>
          <a:bodyPr wrap="square" lIns="0" tIns="0" rIns="0" bIns="0" rtlCol="0" anchor="ctr"/>
          <a:lstStyle/>
          <a:p>
            <a:pPr indent="0" marL="0">
              <a:buNone/>
            </a:pPr>
            <a:r>
              <a:rPr lang="en-US" sz="3600" b="1" dirty="0">
                <a:solidFill>
                  <a:srgbClr val="0B2545"/>
                </a:solidFill>
                <a:latin typeface="Calibri" pitchFamily="34" charset="0"/>
                <a:ea typeface="Calibri" pitchFamily="34" charset="-122"/>
                <a:cs typeface="Calibri" pitchFamily="34" charset="-120"/>
              </a:rPr>
              <a:t>A referral made. What happens next?</a:t>
            </a:r>
            <a:endParaRPr lang="en-US" sz="3600" dirty="0"/>
          </a:p>
        </p:txBody>
      </p:sp>
      <p:sp>
        <p:nvSpPr>
          <p:cNvPr id="4" name="Shape 2"/>
          <p:cNvSpPr/>
          <p:nvPr/>
        </p:nvSpPr>
        <p:spPr>
          <a:xfrm>
            <a:off x="2359152" y="1600200"/>
            <a:ext cx="5541264" cy="2377440"/>
          </a:xfrm>
          <a:prstGeom prst="roundRect">
            <a:avLst>
              <a:gd name="adj" fmla="val 4615"/>
            </a:avLst>
          </a:prstGeom>
          <a:solidFill>
            <a:srgbClr val="E8F1FA"/>
          </a:solidFill>
          <a:ln/>
        </p:spPr>
      </p:sp>
      <p:sp>
        <p:nvSpPr>
          <p:cNvPr id="5" name="Text 3"/>
          <p:cNvSpPr txBox="1"/>
          <p:nvPr/>
        </p:nvSpPr>
        <p:spPr>
          <a:xfrm>
            <a:off x="2450592" y="1664208"/>
            <a:ext cx="5358384" cy="347472"/>
          </a:xfrm>
          <a:prstGeom prst="rect">
            <a:avLst/>
          </a:prstGeom>
          <a:noFill/>
          <a:ln/>
        </p:spPr>
        <p:txBody>
          <a:bodyPr wrap="square" lIns="0" tIns="0" rIns="0" bIns="0" rtlCol="0" anchor="ctr"/>
          <a:lstStyle/>
          <a:p>
            <a:pPr algn="ctr" indent="0" marL="0">
              <a:buNone/>
            </a:pPr>
            <a:r>
              <a:rPr lang="en-US" sz="1300" b="1" spc="300" kern="0" dirty="0">
                <a:solidFill>
                  <a:srgbClr val="1F6FB2"/>
                </a:solidFill>
                <a:latin typeface="Calibri" pitchFamily="34" charset="0"/>
                <a:ea typeface="Calibri" pitchFamily="34" charset="-122"/>
                <a:cs typeface="Calibri" pitchFamily="34" charset="-120"/>
              </a:rPr>
              <a:t>THE GAP</a:t>
            </a:r>
            <a:endParaRPr lang="en-US" sz="1300" dirty="0"/>
          </a:p>
        </p:txBody>
      </p:sp>
      <p:sp>
        <p:nvSpPr>
          <p:cNvPr id="6" name="Shape 4"/>
          <p:cNvSpPr/>
          <p:nvPr/>
        </p:nvSpPr>
        <p:spPr>
          <a:xfrm>
            <a:off x="1783080" y="2606040"/>
            <a:ext cx="987552" cy="0"/>
          </a:xfrm>
          <a:prstGeom prst="line">
            <a:avLst/>
          </a:prstGeom>
          <a:noFill/>
          <a:ln w="31750">
            <a:solidFill>
              <a:srgbClr val="D5DEE8"/>
            </a:solidFill>
            <a:prstDash val="solid"/>
          </a:ln>
        </p:spPr>
      </p:sp>
      <p:sp>
        <p:nvSpPr>
          <p:cNvPr id="7" name="Shape 5"/>
          <p:cNvSpPr/>
          <p:nvPr/>
        </p:nvSpPr>
        <p:spPr>
          <a:xfrm>
            <a:off x="3685032" y="2606040"/>
            <a:ext cx="987552" cy="0"/>
          </a:xfrm>
          <a:prstGeom prst="line">
            <a:avLst/>
          </a:prstGeom>
          <a:noFill/>
          <a:ln w="31750">
            <a:solidFill>
              <a:srgbClr val="1F6FB2"/>
            </a:solidFill>
            <a:prstDash val="dash"/>
          </a:ln>
        </p:spPr>
      </p:sp>
      <p:sp>
        <p:nvSpPr>
          <p:cNvPr id="8" name="Shape 6"/>
          <p:cNvSpPr/>
          <p:nvPr/>
        </p:nvSpPr>
        <p:spPr>
          <a:xfrm>
            <a:off x="5586984" y="2606040"/>
            <a:ext cx="987552" cy="0"/>
          </a:xfrm>
          <a:prstGeom prst="line">
            <a:avLst/>
          </a:prstGeom>
          <a:noFill/>
          <a:ln w="31750">
            <a:solidFill>
              <a:srgbClr val="1F6FB2"/>
            </a:solidFill>
            <a:prstDash val="dash"/>
          </a:ln>
        </p:spPr>
      </p:sp>
      <p:sp>
        <p:nvSpPr>
          <p:cNvPr id="9" name="Shape 7"/>
          <p:cNvSpPr/>
          <p:nvPr/>
        </p:nvSpPr>
        <p:spPr>
          <a:xfrm>
            <a:off x="7488936" y="2606040"/>
            <a:ext cx="987552" cy="0"/>
          </a:xfrm>
          <a:prstGeom prst="line">
            <a:avLst/>
          </a:prstGeom>
          <a:noFill/>
          <a:ln w="31750">
            <a:solidFill>
              <a:srgbClr val="D5DEE8"/>
            </a:solidFill>
            <a:prstDash val="solid"/>
          </a:ln>
        </p:spPr>
      </p:sp>
      <p:sp>
        <p:nvSpPr>
          <p:cNvPr id="10" name="Shape 8"/>
          <p:cNvSpPr/>
          <p:nvPr/>
        </p:nvSpPr>
        <p:spPr>
          <a:xfrm>
            <a:off x="9390888" y="2606040"/>
            <a:ext cx="987552" cy="0"/>
          </a:xfrm>
          <a:prstGeom prst="line">
            <a:avLst/>
          </a:prstGeom>
          <a:noFill/>
          <a:ln w="31750">
            <a:solidFill>
              <a:srgbClr val="D5DEE8"/>
            </a:solidFill>
            <a:prstDash val="solid"/>
          </a:ln>
        </p:spPr>
      </p:sp>
      <p:sp>
        <p:nvSpPr>
          <p:cNvPr id="11" name="Shape 9"/>
          <p:cNvSpPr/>
          <p:nvPr/>
        </p:nvSpPr>
        <p:spPr>
          <a:xfrm>
            <a:off x="868680" y="2148840"/>
            <a:ext cx="914400" cy="914400"/>
          </a:xfrm>
          <a:prstGeom prst="ellipse">
            <a:avLst/>
          </a:prstGeom>
          <a:solidFill>
            <a:srgbClr val="0B2545"/>
          </a:solidFill>
          <a:ln/>
        </p:spPr>
      </p:sp>
      <p:pic>
        <p:nvPicPr>
          <p:cNvPr id="12" name="Image 0" descr="preencoded.png">    </p:cNvPr>
          <p:cNvPicPr>
            <a:picLocks noChangeAspect="1"/>
          </p:cNvPicPr>
          <p:nvPr/>
        </p:nvPicPr>
        <p:blipFill>
          <a:blip r:embed="rId1"/>
          <a:stretch>
            <a:fillRect/>
          </a:stretch>
        </p:blipFill>
        <p:spPr>
          <a:xfrm>
            <a:off x="1088136" y="2368296"/>
            <a:ext cx="475488" cy="475488"/>
          </a:xfrm>
          <a:prstGeom prst="rect">
            <a:avLst/>
          </a:prstGeom>
        </p:spPr>
      </p:pic>
      <p:sp>
        <p:nvSpPr>
          <p:cNvPr id="13" name="Text 10"/>
          <p:cNvSpPr txBox="1"/>
          <p:nvPr/>
        </p:nvSpPr>
        <p:spPr>
          <a:xfrm>
            <a:off x="411480" y="3172968"/>
            <a:ext cx="1828800" cy="347472"/>
          </a:xfrm>
          <a:prstGeom prst="rect">
            <a:avLst/>
          </a:prstGeom>
          <a:noFill/>
          <a:ln/>
        </p:spPr>
        <p:txBody>
          <a:bodyPr wrap="square" lIns="0" tIns="0" rIns="0" bIns="0" rtlCol="0" anchor="ctr"/>
          <a:lstStyle/>
          <a:p>
            <a:pPr algn="ctr" indent="0" marL="0">
              <a:buNone/>
            </a:pPr>
            <a:r>
              <a:rPr lang="en-US" sz="1600" b="1" dirty="0">
                <a:solidFill>
                  <a:srgbClr val="0B2545"/>
                </a:solidFill>
                <a:latin typeface="Calibri" pitchFamily="34" charset="0"/>
                <a:ea typeface="Calibri" pitchFamily="34" charset="-122"/>
                <a:cs typeface="Calibri" pitchFamily="34" charset="-120"/>
              </a:rPr>
              <a:t>Doctor</a:t>
            </a:r>
            <a:endParaRPr lang="en-US" sz="1600" dirty="0"/>
          </a:p>
        </p:txBody>
      </p:sp>
      <p:sp>
        <p:nvSpPr>
          <p:cNvPr id="14" name="Text 11"/>
          <p:cNvSpPr txBox="1"/>
          <p:nvPr/>
        </p:nvSpPr>
        <p:spPr>
          <a:xfrm>
            <a:off x="411480" y="3520440"/>
            <a:ext cx="1828800" cy="292608"/>
          </a:xfrm>
          <a:prstGeom prst="rect">
            <a:avLst/>
          </a:prstGeom>
          <a:noFill/>
          <a:ln/>
        </p:spPr>
        <p:txBody>
          <a:bodyPr wrap="square" lIns="0" tIns="0" rIns="0" bIns="0" rtlCol="0" anchor="ctr"/>
          <a:lstStyle/>
          <a:p>
            <a:pPr algn="ctr" indent="0" marL="0">
              <a:buNone/>
            </a:pPr>
            <a:r>
              <a:rPr lang="en-US" sz="1300" dirty="0">
                <a:solidFill>
                  <a:srgbClr val="334155"/>
                </a:solidFill>
                <a:latin typeface="Calibri" pitchFamily="34" charset="0"/>
                <a:ea typeface="Calibri" pitchFamily="34" charset="-122"/>
                <a:cs typeface="Calibri" pitchFamily="34" charset="-120"/>
              </a:rPr>
              <a:t>Refers Ravi</a:t>
            </a:r>
            <a:endParaRPr lang="en-US" sz="1300" dirty="0"/>
          </a:p>
        </p:txBody>
      </p:sp>
      <p:sp>
        <p:nvSpPr>
          <p:cNvPr id="15" name="Shape 12"/>
          <p:cNvSpPr/>
          <p:nvPr/>
        </p:nvSpPr>
        <p:spPr>
          <a:xfrm>
            <a:off x="2770632" y="2148840"/>
            <a:ext cx="914400" cy="914400"/>
          </a:xfrm>
          <a:prstGeom prst="ellipse">
            <a:avLst/>
          </a:prstGeom>
          <a:solidFill>
            <a:srgbClr val="1F6FB2"/>
          </a:solidFill>
          <a:ln/>
        </p:spPr>
      </p:sp>
      <p:pic>
        <p:nvPicPr>
          <p:cNvPr id="16" name="Image 1" descr="preencoded.png">    </p:cNvPr>
          <p:cNvPicPr>
            <a:picLocks noChangeAspect="1"/>
          </p:cNvPicPr>
          <p:nvPr/>
        </p:nvPicPr>
        <p:blipFill>
          <a:blip r:embed="rId2"/>
          <a:stretch>
            <a:fillRect/>
          </a:stretch>
        </p:blipFill>
        <p:spPr>
          <a:xfrm>
            <a:off x="2990088" y="2368296"/>
            <a:ext cx="475488" cy="475488"/>
          </a:xfrm>
          <a:prstGeom prst="rect">
            <a:avLst/>
          </a:prstGeom>
        </p:spPr>
      </p:pic>
      <p:sp>
        <p:nvSpPr>
          <p:cNvPr id="17" name="Text 13"/>
          <p:cNvSpPr txBox="1"/>
          <p:nvPr/>
        </p:nvSpPr>
        <p:spPr>
          <a:xfrm>
            <a:off x="2313432" y="3172968"/>
            <a:ext cx="1828800" cy="347472"/>
          </a:xfrm>
          <a:prstGeom prst="rect">
            <a:avLst/>
          </a:prstGeom>
          <a:noFill/>
          <a:ln/>
        </p:spPr>
        <p:txBody>
          <a:bodyPr wrap="square" lIns="0" tIns="0" rIns="0" bIns="0" rtlCol="0" anchor="ctr"/>
          <a:lstStyle/>
          <a:p>
            <a:pPr algn="ctr" indent="0" marL="0">
              <a:buNone/>
            </a:pPr>
            <a:r>
              <a:rPr lang="en-US" sz="1600" b="1" dirty="0">
                <a:solidFill>
                  <a:srgbClr val="0B2545"/>
                </a:solidFill>
                <a:latin typeface="Calibri" pitchFamily="34" charset="0"/>
                <a:ea typeface="Calibri" pitchFamily="34" charset="-122"/>
                <a:cs typeface="Calibri" pitchFamily="34" charset="-120"/>
              </a:rPr>
              <a:t>Referral</a:t>
            </a:r>
            <a:endParaRPr lang="en-US" sz="1600" dirty="0"/>
          </a:p>
        </p:txBody>
      </p:sp>
      <p:sp>
        <p:nvSpPr>
          <p:cNvPr id="18" name="Shape 14"/>
          <p:cNvSpPr/>
          <p:nvPr/>
        </p:nvSpPr>
        <p:spPr>
          <a:xfrm>
            <a:off x="4672584" y="2148840"/>
            <a:ext cx="914400" cy="914400"/>
          </a:xfrm>
          <a:prstGeom prst="ellipse">
            <a:avLst/>
          </a:prstGeom>
          <a:solidFill>
            <a:srgbClr val="2E9E6B"/>
          </a:solidFill>
          <a:ln/>
        </p:spPr>
      </p:sp>
      <p:pic>
        <p:nvPicPr>
          <p:cNvPr id="19" name="Image 2" descr="preencoded.png">    </p:cNvPr>
          <p:cNvPicPr>
            <a:picLocks noChangeAspect="1"/>
          </p:cNvPicPr>
          <p:nvPr/>
        </p:nvPicPr>
        <p:blipFill>
          <a:blip r:embed="rId3"/>
          <a:stretch>
            <a:fillRect/>
          </a:stretch>
        </p:blipFill>
        <p:spPr>
          <a:xfrm>
            <a:off x="4892040" y="2368296"/>
            <a:ext cx="475488" cy="475488"/>
          </a:xfrm>
          <a:prstGeom prst="rect">
            <a:avLst/>
          </a:prstGeom>
        </p:spPr>
      </p:pic>
      <p:sp>
        <p:nvSpPr>
          <p:cNvPr id="20" name="Text 15"/>
          <p:cNvSpPr txBox="1"/>
          <p:nvPr/>
        </p:nvSpPr>
        <p:spPr>
          <a:xfrm>
            <a:off x="4215384" y="3172968"/>
            <a:ext cx="1828800" cy="347472"/>
          </a:xfrm>
          <a:prstGeom prst="rect">
            <a:avLst/>
          </a:prstGeom>
          <a:noFill/>
          <a:ln/>
        </p:spPr>
        <p:txBody>
          <a:bodyPr wrap="square" lIns="0" tIns="0" rIns="0" bIns="0" rtlCol="0" anchor="ctr"/>
          <a:lstStyle/>
          <a:p>
            <a:pPr algn="ctr" indent="0" marL="0">
              <a:buNone/>
            </a:pPr>
            <a:r>
              <a:rPr lang="en-US" sz="1600" b="1" dirty="0">
                <a:solidFill>
                  <a:srgbClr val="0B2545"/>
                </a:solidFill>
                <a:latin typeface="Calibri" pitchFamily="34" charset="0"/>
                <a:ea typeface="Calibri" pitchFamily="34" charset="-122"/>
                <a:cs typeface="Calibri" pitchFamily="34" charset="-120"/>
              </a:rPr>
              <a:t>Worker check</a:t>
            </a:r>
            <a:endParaRPr lang="en-US" sz="1600" dirty="0"/>
          </a:p>
        </p:txBody>
      </p:sp>
      <p:sp>
        <p:nvSpPr>
          <p:cNvPr id="21" name="Text 16"/>
          <p:cNvSpPr txBox="1"/>
          <p:nvPr/>
        </p:nvSpPr>
        <p:spPr>
          <a:xfrm>
            <a:off x="4215384" y="3520440"/>
            <a:ext cx="1828800" cy="292608"/>
          </a:xfrm>
          <a:prstGeom prst="rect">
            <a:avLst/>
          </a:prstGeom>
          <a:noFill/>
          <a:ln/>
        </p:spPr>
        <p:txBody>
          <a:bodyPr wrap="square" lIns="0" tIns="0" rIns="0" bIns="0" rtlCol="0" anchor="ctr"/>
          <a:lstStyle/>
          <a:p>
            <a:pPr algn="ctr" indent="0" marL="0">
              <a:buNone/>
            </a:pPr>
            <a:r>
              <a:rPr lang="en-US" sz="1300" dirty="0">
                <a:solidFill>
                  <a:srgbClr val="334155"/>
                </a:solidFill>
                <a:latin typeface="Calibri" pitchFamily="34" charset="0"/>
                <a:ea typeface="Calibri" pitchFamily="34" charset="-122"/>
                <a:cs typeface="Calibri" pitchFamily="34" charset="-120"/>
              </a:rPr>
              <a:t>Asks what's needed</a:t>
            </a:r>
            <a:endParaRPr lang="en-US" sz="1300" dirty="0"/>
          </a:p>
        </p:txBody>
      </p:sp>
      <p:sp>
        <p:nvSpPr>
          <p:cNvPr id="22" name="Shape 17"/>
          <p:cNvSpPr/>
          <p:nvPr/>
        </p:nvSpPr>
        <p:spPr>
          <a:xfrm>
            <a:off x="6574536" y="2148840"/>
            <a:ext cx="914400" cy="914400"/>
          </a:xfrm>
          <a:prstGeom prst="ellipse">
            <a:avLst/>
          </a:prstGeom>
          <a:solidFill>
            <a:srgbClr val="1F6FB2"/>
          </a:solidFill>
          <a:ln/>
        </p:spPr>
      </p:sp>
      <p:pic>
        <p:nvPicPr>
          <p:cNvPr id="23" name="Image 3" descr="preencoded.png">    </p:cNvPr>
          <p:cNvPicPr>
            <a:picLocks noChangeAspect="1"/>
          </p:cNvPicPr>
          <p:nvPr/>
        </p:nvPicPr>
        <p:blipFill>
          <a:blip r:embed="rId4"/>
          <a:stretch>
            <a:fillRect/>
          </a:stretch>
        </p:blipFill>
        <p:spPr>
          <a:xfrm>
            <a:off x="6793992" y="2368296"/>
            <a:ext cx="475488" cy="475488"/>
          </a:xfrm>
          <a:prstGeom prst="rect">
            <a:avLst/>
          </a:prstGeom>
        </p:spPr>
      </p:pic>
      <p:sp>
        <p:nvSpPr>
          <p:cNvPr id="24" name="Text 18"/>
          <p:cNvSpPr txBox="1"/>
          <p:nvPr/>
        </p:nvSpPr>
        <p:spPr>
          <a:xfrm>
            <a:off x="6117336" y="3172968"/>
            <a:ext cx="1828800" cy="347472"/>
          </a:xfrm>
          <a:prstGeom prst="rect">
            <a:avLst/>
          </a:prstGeom>
          <a:noFill/>
          <a:ln/>
        </p:spPr>
        <p:txBody>
          <a:bodyPr wrap="square" lIns="0" tIns="0" rIns="0" bIns="0" rtlCol="0" anchor="ctr"/>
          <a:lstStyle/>
          <a:p>
            <a:pPr algn="ctr" indent="0" marL="0">
              <a:buNone/>
            </a:pPr>
            <a:r>
              <a:rPr lang="en-US" sz="1600" b="1" dirty="0">
                <a:solidFill>
                  <a:srgbClr val="0B2545"/>
                </a:solidFill>
                <a:latin typeface="Calibri" pitchFamily="34" charset="0"/>
                <a:ea typeface="Calibri" pitchFamily="34" charset="-122"/>
                <a:cs typeface="Calibri" pitchFamily="34" charset="-120"/>
              </a:rPr>
              <a:t>Hospital</a:t>
            </a:r>
            <a:endParaRPr lang="en-US" sz="1600" dirty="0"/>
          </a:p>
        </p:txBody>
      </p:sp>
      <p:sp>
        <p:nvSpPr>
          <p:cNvPr id="25" name="Text 19"/>
          <p:cNvSpPr txBox="1"/>
          <p:nvPr/>
        </p:nvSpPr>
        <p:spPr>
          <a:xfrm>
            <a:off x="6117336" y="3520440"/>
            <a:ext cx="1828800" cy="292608"/>
          </a:xfrm>
          <a:prstGeom prst="rect">
            <a:avLst/>
          </a:prstGeom>
          <a:noFill/>
          <a:ln/>
        </p:spPr>
        <p:txBody>
          <a:bodyPr wrap="square" lIns="0" tIns="0" rIns="0" bIns="0" rtlCol="0" anchor="ctr"/>
          <a:lstStyle/>
          <a:p>
            <a:pPr algn="ctr" indent="0" marL="0">
              <a:buNone/>
            </a:pPr>
            <a:r>
              <a:rPr lang="en-US" sz="1300" dirty="0">
                <a:solidFill>
                  <a:srgbClr val="334155"/>
                </a:solidFill>
                <a:latin typeface="Calibri" pitchFamily="34" charset="0"/>
                <a:ea typeface="Calibri" pitchFamily="34" charset="-122"/>
                <a:cs typeface="Calibri" pitchFamily="34" charset="-120"/>
              </a:rPr>
              <a:t>Confirms arrival</a:t>
            </a:r>
            <a:endParaRPr lang="en-US" sz="1300" dirty="0"/>
          </a:p>
        </p:txBody>
      </p:sp>
      <p:sp>
        <p:nvSpPr>
          <p:cNvPr id="26" name="Shape 20"/>
          <p:cNvSpPr/>
          <p:nvPr/>
        </p:nvSpPr>
        <p:spPr>
          <a:xfrm>
            <a:off x="8476488" y="2148840"/>
            <a:ext cx="914400" cy="914400"/>
          </a:xfrm>
          <a:prstGeom prst="ellipse">
            <a:avLst/>
          </a:prstGeom>
          <a:solidFill>
            <a:srgbClr val="0B2545"/>
          </a:solidFill>
          <a:ln/>
        </p:spPr>
      </p:sp>
      <p:pic>
        <p:nvPicPr>
          <p:cNvPr id="27" name="Image 4" descr="preencoded.png">    </p:cNvPr>
          <p:cNvPicPr>
            <a:picLocks noChangeAspect="1"/>
          </p:cNvPicPr>
          <p:nvPr/>
        </p:nvPicPr>
        <p:blipFill>
          <a:blip r:embed="rId5"/>
          <a:stretch>
            <a:fillRect/>
          </a:stretch>
        </p:blipFill>
        <p:spPr>
          <a:xfrm>
            <a:off x="8695944" y="2368296"/>
            <a:ext cx="475488" cy="475488"/>
          </a:xfrm>
          <a:prstGeom prst="rect">
            <a:avLst/>
          </a:prstGeom>
        </p:spPr>
      </p:pic>
      <p:sp>
        <p:nvSpPr>
          <p:cNvPr id="28" name="Text 21"/>
          <p:cNvSpPr txBox="1"/>
          <p:nvPr/>
        </p:nvSpPr>
        <p:spPr>
          <a:xfrm>
            <a:off x="8019288" y="3172968"/>
            <a:ext cx="1828800" cy="347472"/>
          </a:xfrm>
          <a:prstGeom prst="rect">
            <a:avLst/>
          </a:prstGeom>
          <a:noFill/>
          <a:ln/>
        </p:spPr>
        <p:txBody>
          <a:bodyPr wrap="square" lIns="0" tIns="0" rIns="0" bIns="0" rtlCol="0" anchor="ctr"/>
          <a:lstStyle/>
          <a:p>
            <a:pPr algn="ctr" indent="0" marL="0">
              <a:buNone/>
            </a:pPr>
            <a:r>
              <a:rPr lang="en-US" sz="1600" b="1" dirty="0">
                <a:solidFill>
                  <a:srgbClr val="0B2545"/>
                </a:solidFill>
                <a:latin typeface="Calibri" pitchFamily="34" charset="0"/>
                <a:ea typeface="Calibri" pitchFamily="34" charset="-122"/>
                <a:cs typeface="Calibri" pitchFamily="34" charset="-120"/>
              </a:rPr>
              <a:t>Treatment</a:t>
            </a:r>
            <a:endParaRPr lang="en-US" sz="1600" dirty="0"/>
          </a:p>
        </p:txBody>
      </p:sp>
      <p:sp>
        <p:nvSpPr>
          <p:cNvPr id="29" name="Shape 22"/>
          <p:cNvSpPr/>
          <p:nvPr/>
        </p:nvSpPr>
        <p:spPr>
          <a:xfrm>
            <a:off x="10378440" y="2148840"/>
            <a:ext cx="914400" cy="914400"/>
          </a:xfrm>
          <a:prstGeom prst="ellipse">
            <a:avLst/>
          </a:prstGeom>
          <a:solidFill>
            <a:srgbClr val="0B2545"/>
          </a:solidFill>
          <a:ln/>
        </p:spPr>
      </p:sp>
      <p:pic>
        <p:nvPicPr>
          <p:cNvPr id="30" name="Image 5" descr="preencoded.png">    </p:cNvPr>
          <p:cNvPicPr>
            <a:picLocks noChangeAspect="1"/>
          </p:cNvPicPr>
          <p:nvPr/>
        </p:nvPicPr>
        <p:blipFill>
          <a:blip r:embed="rId6"/>
          <a:stretch>
            <a:fillRect/>
          </a:stretch>
        </p:blipFill>
        <p:spPr>
          <a:xfrm>
            <a:off x="10597896" y="2368296"/>
            <a:ext cx="475488" cy="475488"/>
          </a:xfrm>
          <a:prstGeom prst="rect">
            <a:avLst/>
          </a:prstGeom>
        </p:spPr>
      </p:pic>
      <p:sp>
        <p:nvSpPr>
          <p:cNvPr id="31" name="Text 23"/>
          <p:cNvSpPr txBox="1"/>
          <p:nvPr/>
        </p:nvSpPr>
        <p:spPr>
          <a:xfrm>
            <a:off x="9921240" y="3172968"/>
            <a:ext cx="1828800" cy="347472"/>
          </a:xfrm>
          <a:prstGeom prst="rect">
            <a:avLst/>
          </a:prstGeom>
          <a:noFill/>
          <a:ln/>
        </p:spPr>
        <p:txBody>
          <a:bodyPr wrap="square" lIns="0" tIns="0" rIns="0" bIns="0" rtlCol="0" anchor="ctr"/>
          <a:lstStyle/>
          <a:p>
            <a:pPr algn="ctr" indent="0" marL="0">
              <a:buNone/>
            </a:pPr>
            <a:r>
              <a:rPr lang="en-US" sz="1600" b="1" dirty="0">
                <a:solidFill>
                  <a:srgbClr val="0B2545"/>
                </a:solidFill>
                <a:latin typeface="Calibri" pitchFamily="34" charset="0"/>
                <a:ea typeface="Calibri" pitchFamily="34" charset="-122"/>
                <a:cs typeface="Calibri" pitchFamily="34" charset="-120"/>
              </a:rPr>
              <a:t>Follow-up</a:t>
            </a:r>
            <a:endParaRPr lang="en-US" sz="1600" dirty="0"/>
          </a:p>
        </p:txBody>
      </p:sp>
      <p:sp>
        <p:nvSpPr>
          <p:cNvPr id="32" name="Text 24"/>
          <p:cNvSpPr txBox="1"/>
          <p:nvPr/>
        </p:nvSpPr>
        <p:spPr>
          <a:xfrm>
            <a:off x="3950208" y="2103120"/>
            <a:ext cx="457200" cy="457200"/>
          </a:xfrm>
          <a:prstGeom prst="rect">
            <a:avLst/>
          </a:prstGeom>
          <a:noFill/>
          <a:ln/>
        </p:spPr>
        <p:txBody>
          <a:bodyPr wrap="square" lIns="0" tIns="0" rIns="0" bIns="0" rtlCol="0" anchor="ctr"/>
          <a:lstStyle/>
          <a:p>
            <a:pPr algn="ctr" indent="0" marL="0">
              <a:buNone/>
            </a:pPr>
            <a:r>
              <a:rPr lang="en-US" sz="2200" b="1" dirty="0">
                <a:solidFill>
                  <a:srgbClr val="1F6FB2"/>
                </a:solidFill>
                <a:latin typeface="Calibri" pitchFamily="34" charset="0"/>
                <a:ea typeface="Calibri" pitchFamily="34" charset="-122"/>
                <a:cs typeface="Calibri" pitchFamily="34" charset="-120"/>
              </a:rPr>
              <a:t>?</a:t>
            </a:r>
            <a:endParaRPr lang="en-US" sz="2200" dirty="0"/>
          </a:p>
        </p:txBody>
      </p:sp>
      <p:sp>
        <p:nvSpPr>
          <p:cNvPr id="33" name="Text 25"/>
          <p:cNvSpPr txBox="1"/>
          <p:nvPr/>
        </p:nvSpPr>
        <p:spPr>
          <a:xfrm>
            <a:off x="5852160" y="2103120"/>
            <a:ext cx="457200" cy="457200"/>
          </a:xfrm>
          <a:prstGeom prst="rect">
            <a:avLst/>
          </a:prstGeom>
          <a:noFill/>
          <a:ln/>
        </p:spPr>
        <p:txBody>
          <a:bodyPr wrap="square" lIns="0" tIns="0" rIns="0" bIns="0" rtlCol="0" anchor="ctr"/>
          <a:lstStyle/>
          <a:p>
            <a:pPr algn="ctr" indent="0" marL="0">
              <a:buNone/>
            </a:pPr>
            <a:r>
              <a:rPr lang="en-US" sz="2200" b="1" dirty="0">
                <a:solidFill>
                  <a:srgbClr val="1F6FB2"/>
                </a:solidFill>
                <a:latin typeface="Calibri" pitchFamily="34" charset="0"/>
                <a:ea typeface="Calibri" pitchFamily="34" charset="-122"/>
                <a:cs typeface="Calibri" pitchFamily="34" charset="-120"/>
              </a:rPr>
              <a:t>?</a:t>
            </a:r>
            <a:endParaRPr lang="en-US" sz="2200" dirty="0"/>
          </a:p>
        </p:txBody>
      </p:sp>
      <p:sp>
        <p:nvSpPr>
          <p:cNvPr id="34" name="Shape 26"/>
          <p:cNvSpPr/>
          <p:nvPr/>
        </p:nvSpPr>
        <p:spPr>
          <a:xfrm>
            <a:off x="612648" y="4206240"/>
            <a:ext cx="5212080" cy="1508760"/>
          </a:xfrm>
          <a:prstGeom prst="roundRect">
            <a:avLst>
              <a:gd name="adj" fmla="val 7273"/>
            </a:avLst>
          </a:prstGeom>
          <a:solidFill>
            <a:srgbClr val="F4F7FB"/>
          </a:solidFill>
          <a:ln/>
        </p:spPr>
      </p:sp>
      <p:sp>
        <p:nvSpPr>
          <p:cNvPr id="35" name="Text 27"/>
          <p:cNvSpPr txBox="1"/>
          <p:nvPr/>
        </p:nvSpPr>
        <p:spPr>
          <a:xfrm>
            <a:off x="914400" y="4370832"/>
            <a:ext cx="4663440" cy="274320"/>
          </a:xfrm>
          <a:prstGeom prst="rect">
            <a:avLst/>
          </a:prstGeom>
          <a:noFill/>
          <a:ln/>
        </p:spPr>
        <p:txBody>
          <a:bodyPr wrap="square" lIns="0" tIns="0" rIns="0" bIns="0" rtlCol="0" anchor="ctr"/>
          <a:lstStyle/>
          <a:p>
            <a:pPr indent="0" marL="0">
              <a:buNone/>
            </a:pPr>
            <a:r>
              <a:rPr lang="en-US" sz="1200" b="1" spc="200" kern="0" dirty="0">
                <a:solidFill>
                  <a:srgbClr val="1F6FB2"/>
                </a:solidFill>
                <a:latin typeface="Calibri" pitchFamily="34" charset="0"/>
                <a:ea typeface="Calibri" pitchFamily="34" charset="-122"/>
                <a:cs typeface="Calibri" pitchFamily="34" charset="-120"/>
              </a:rPr>
              <a:t>KEY QUESTIONS TO ASK</a:t>
            </a:r>
            <a:endParaRPr lang="en-US" sz="1200" dirty="0"/>
          </a:p>
        </p:txBody>
      </p:sp>
      <p:sp>
        <p:nvSpPr>
          <p:cNvPr id="36" name="Text 28"/>
          <p:cNvSpPr txBox="1"/>
          <p:nvPr/>
        </p:nvSpPr>
        <p:spPr>
          <a:xfrm>
            <a:off x="914400" y="4709160"/>
            <a:ext cx="4754880" cy="82296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Was it clear?   ·   Could it wait?</a:t>
            </a:r>
            <a:endParaRPr lang="en-US" sz="1700" dirty="0"/>
          </a:p>
          <a:p>
            <a:pPr indent="0" marL="0">
              <a:buNone/>
            </a:pPr>
            <a:r>
              <a:rPr lang="en-US" sz="1700" b="1" dirty="0">
                <a:solidFill>
                  <a:srgbClr val="0B2545"/>
                </a:solidFill>
                <a:latin typeface="Calibri" pitchFamily="34" charset="0"/>
                <a:ea typeface="Calibri" pitchFamily="34" charset="-122"/>
                <a:cs typeface="Calibri" pitchFamily="34" charset="-120"/>
              </a:rPr>
              <a:t>Cost, location, transport, or service access?</a:t>
            </a:r>
            <a:endParaRPr lang="en-US" sz="1700" dirty="0"/>
          </a:p>
        </p:txBody>
      </p:sp>
      <p:sp>
        <p:nvSpPr>
          <p:cNvPr id="37" name="Shape 29"/>
          <p:cNvSpPr/>
          <p:nvPr/>
        </p:nvSpPr>
        <p:spPr>
          <a:xfrm>
            <a:off x="6099048" y="4206240"/>
            <a:ext cx="5486400" cy="1508760"/>
          </a:xfrm>
          <a:prstGeom prst="roundRect">
            <a:avLst>
              <a:gd name="adj" fmla="val 7273"/>
            </a:avLst>
          </a:prstGeom>
          <a:solidFill>
            <a:srgbClr val="0B2545"/>
          </a:solidFill>
          <a:ln/>
        </p:spPr>
      </p:sp>
      <p:sp>
        <p:nvSpPr>
          <p:cNvPr id="38" name="Text 30"/>
          <p:cNvSpPr txBox="1"/>
          <p:nvPr/>
        </p:nvSpPr>
        <p:spPr>
          <a:xfrm>
            <a:off x="6400800" y="4370832"/>
            <a:ext cx="493776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He may need help, not another reminder.</a:t>
            </a:r>
            <a:endParaRPr lang="en-US" sz="2000" dirty="0"/>
          </a:p>
        </p:txBody>
      </p:sp>
      <p:sp>
        <p:nvSpPr>
          <p:cNvPr id="39" name="Text 31"/>
          <p:cNvSpPr txBox="1"/>
          <p:nvPr/>
        </p:nvSpPr>
        <p:spPr>
          <a:xfrm>
            <a:off x="6400800" y="4828032"/>
            <a:ext cx="4937760" cy="731520"/>
          </a:xfrm>
          <a:prstGeom prst="rect">
            <a:avLst/>
          </a:prstGeom>
          <a:noFill/>
          <a:ln/>
        </p:spPr>
        <p:txBody>
          <a:bodyPr wrap="square" lIns="0" tIns="0" rIns="0" bIns="0" rtlCol="0" anchor="t"/>
          <a:lstStyle/>
          <a:p>
            <a:pPr indent="0" marL="0">
              <a:buNone/>
            </a:pPr>
            <a:r>
              <a:rPr lang="en-US" sz="1600" dirty="0">
                <a:solidFill>
                  <a:srgbClr val="C9D8E8"/>
                </a:solidFill>
                <a:latin typeface="Calibri" pitchFamily="34" charset="0"/>
                <a:ea typeface="Calibri" pitchFamily="34" charset="-122"/>
                <a:cs typeface="Calibri" pitchFamily="34" charset="-120"/>
              </a:rPr>
              <a:t>The real problem is understanding what is preventing the next step.</a:t>
            </a:r>
            <a:endParaRPr lang="en-US" sz="1600" dirty="0"/>
          </a:p>
        </p:txBody>
      </p:sp>
      <p:pic>
        <p:nvPicPr>
          <p:cNvPr id="40" name="Image 6" descr="preencoded.png">    </p:cNvPr>
          <p:cNvPicPr>
            <a:picLocks noChangeAspect="1"/>
          </p:cNvPicPr>
          <p:nvPr/>
        </p:nvPicPr>
        <p:blipFill>
          <a:blip r:embed="rId7"/>
          <a:stretch>
            <a:fillRect/>
          </a:stretch>
        </p:blipFill>
        <p:spPr>
          <a:xfrm>
            <a:off x="612648" y="5897880"/>
            <a:ext cx="274320" cy="274320"/>
          </a:xfrm>
          <a:prstGeom prst="rect">
            <a:avLst/>
          </a:prstGeom>
        </p:spPr>
      </p:pic>
      <p:sp>
        <p:nvSpPr>
          <p:cNvPr id="41" name="Text 32"/>
          <p:cNvSpPr txBox="1"/>
          <p:nvPr/>
        </p:nvSpPr>
        <p:spPr>
          <a:xfrm>
            <a:off x="978408" y="5879592"/>
            <a:ext cx="10058400" cy="310896"/>
          </a:xfrm>
          <a:prstGeom prst="rect">
            <a:avLst/>
          </a:prstGeom>
          <a:noFill/>
          <a:ln/>
        </p:spPr>
        <p:txBody>
          <a:bodyPr wrap="square" lIns="0" tIns="0" rIns="0" bIns="0" rtlCol="0" anchor="ctr"/>
          <a:lstStyle/>
          <a:p>
            <a:pPr indent="0" marL="0">
              <a:buNone/>
            </a:pPr>
            <a:r>
              <a:rPr lang="en-US" sz="1400" i="1" dirty="0">
                <a:solidFill>
                  <a:srgbClr val="334155"/>
                </a:solidFill>
                <a:latin typeface="Calibri" pitchFamily="34" charset="0"/>
                <a:ea typeface="Calibri" pitchFamily="34" charset="-122"/>
                <a:cs typeface="Calibri" pitchFamily="34" charset="-120"/>
              </a:rPr>
              <a:t>No arrival confirmation? Ask first — it does not mean Ravi missed the visit.</a:t>
            </a:r>
            <a:endParaRPr lang="en-US" sz="14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12648" y="384048"/>
            <a:ext cx="10972800" cy="274320"/>
          </a:xfrm>
          <a:prstGeom prst="rect">
            <a:avLst/>
          </a:prstGeom>
          <a:noFill/>
          <a:ln/>
        </p:spPr>
        <p:txBody>
          <a:bodyPr wrap="square" lIns="0" tIns="0" rIns="0" bIns="0" rtlCol="0" anchor="ctr"/>
          <a:lstStyle/>
          <a:p>
            <a:pPr indent="0" marL="0">
              <a:buNone/>
            </a:pPr>
            <a:r>
              <a:rPr lang="en-US" sz="1200" b="1" spc="200" kern="0" dirty="0">
                <a:solidFill>
                  <a:srgbClr val="1F6FB2"/>
                </a:solidFill>
                <a:latin typeface="Calibri" pitchFamily="34" charset="0"/>
                <a:ea typeface="Calibri" pitchFamily="34" charset="-122"/>
                <a:cs typeface="Calibri" pitchFamily="34" charset="-120"/>
              </a:rPr>
              <a:t>04 — HOW CAREBRIDGE HELPS</a:t>
            </a:r>
            <a:endParaRPr lang="en-US" sz="1200" dirty="0"/>
          </a:p>
        </p:txBody>
      </p:sp>
      <p:sp>
        <p:nvSpPr>
          <p:cNvPr id="3" name="Text 1"/>
          <p:cNvSpPr txBox="1"/>
          <p:nvPr/>
        </p:nvSpPr>
        <p:spPr>
          <a:xfrm>
            <a:off x="612648" y="685800"/>
            <a:ext cx="10972800" cy="731520"/>
          </a:xfrm>
          <a:prstGeom prst="rect">
            <a:avLst/>
          </a:prstGeom>
          <a:noFill/>
          <a:ln/>
        </p:spPr>
        <p:txBody>
          <a:bodyPr wrap="square" lIns="0" tIns="0" rIns="0" bIns="0" rtlCol="0" anchor="ctr"/>
          <a:lstStyle/>
          <a:p>
            <a:pPr indent="0" marL="0">
              <a:buNone/>
            </a:pPr>
            <a:r>
              <a:rPr lang="en-US" sz="3600" b="1" dirty="0">
                <a:solidFill>
                  <a:srgbClr val="0B2545"/>
                </a:solidFill>
                <a:latin typeface="Calibri" pitchFamily="34" charset="0"/>
                <a:ea typeface="Calibri" pitchFamily="34" charset="-122"/>
                <a:cs typeface="Calibri" pitchFamily="34" charset="-120"/>
              </a:rPr>
              <a:t>Don't stop at the referral.</a:t>
            </a:r>
            <a:endParaRPr lang="en-US" sz="3600" dirty="0"/>
          </a:p>
        </p:txBody>
      </p:sp>
      <p:sp>
        <p:nvSpPr>
          <p:cNvPr id="4" name="Text 2"/>
          <p:cNvSpPr txBox="1"/>
          <p:nvPr/>
        </p:nvSpPr>
        <p:spPr>
          <a:xfrm>
            <a:off x="612648" y="1371600"/>
            <a:ext cx="10972800" cy="320040"/>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Referral recorded → arrival unconfirmed → worker checks with Ravi.  Ask why. Help. Confirm arrival.</a:t>
            </a:r>
            <a:endParaRPr lang="en-US" sz="1500" dirty="0"/>
          </a:p>
        </p:txBody>
      </p:sp>
      <p:sp>
        <p:nvSpPr>
          <p:cNvPr id="5" name="Shape 3"/>
          <p:cNvSpPr/>
          <p:nvPr/>
        </p:nvSpPr>
        <p:spPr>
          <a:xfrm>
            <a:off x="1412748" y="2971800"/>
            <a:ext cx="9372600" cy="0"/>
          </a:xfrm>
          <a:prstGeom prst="line">
            <a:avLst/>
          </a:prstGeom>
          <a:noFill/>
          <a:ln w="25400">
            <a:solidFill>
              <a:srgbClr val="D5DEE8"/>
            </a:solidFill>
            <a:prstDash val="solid"/>
          </a:ln>
        </p:spPr>
      </p:sp>
      <p:sp>
        <p:nvSpPr>
          <p:cNvPr id="6" name="Shape 4"/>
          <p:cNvSpPr/>
          <p:nvPr/>
        </p:nvSpPr>
        <p:spPr>
          <a:xfrm>
            <a:off x="612648" y="1920240"/>
            <a:ext cx="1600200" cy="2194560"/>
          </a:xfrm>
          <a:prstGeom prst="roundRect">
            <a:avLst>
              <a:gd name="adj" fmla="val 6857"/>
            </a:avLst>
          </a:prstGeom>
          <a:solidFill>
            <a:srgbClr val="F4F7FB"/>
          </a:solidFill>
          <a:ln/>
        </p:spPr>
      </p:sp>
      <p:sp>
        <p:nvSpPr>
          <p:cNvPr id="7" name="Text 5"/>
          <p:cNvSpPr txBox="1"/>
          <p:nvPr/>
        </p:nvSpPr>
        <p:spPr>
          <a:xfrm>
            <a:off x="795528" y="2057400"/>
            <a:ext cx="914400" cy="320040"/>
          </a:xfrm>
          <a:prstGeom prst="rect">
            <a:avLst/>
          </a:prstGeom>
          <a:noFill/>
          <a:ln/>
        </p:spPr>
        <p:txBody>
          <a:bodyPr wrap="square" lIns="0" tIns="0" rIns="0" bIns="0" rtlCol="0" anchor="ctr"/>
          <a:lstStyle/>
          <a:p>
            <a:pPr indent="0" marL="0">
              <a:buNone/>
            </a:pPr>
            <a:r>
              <a:rPr lang="en-US" sz="1400" b="1" dirty="0">
                <a:solidFill>
                  <a:srgbClr val="1F6FB2"/>
                </a:solidFill>
                <a:latin typeface="Calibri" pitchFamily="34" charset="0"/>
                <a:ea typeface="Calibri" pitchFamily="34" charset="-122"/>
                <a:cs typeface="Calibri" pitchFamily="34" charset="-120"/>
              </a:rPr>
              <a:t>01</a:t>
            </a:r>
            <a:endParaRPr lang="en-US" sz="1400" dirty="0"/>
          </a:p>
        </p:txBody>
      </p:sp>
      <p:sp>
        <p:nvSpPr>
          <p:cNvPr id="8" name="Shape 6"/>
          <p:cNvSpPr/>
          <p:nvPr/>
        </p:nvSpPr>
        <p:spPr>
          <a:xfrm>
            <a:off x="1046988" y="2606040"/>
            <a:ext cx="731520" cy="731520"/>
          </a:xfrm>
          <a:prstGeom prst="ellipse">
            <a:avLst/>
          </a:prstGeom>
          <a:solidFill>
            <a:srgbClr val="1F6FB2"/>
          </a:solidFill>
          <a:ln/>
        </p:spPr>
      </p:sp>
      <p:pic>
        <p:nvPicPr>
          <p:cNvPr id="9" name="Image 0" descr="preencoded.png">    </p:cNvPr>
          <p:cNvPicPr>
            <a:picLocks noChangeAspect="1"/>
          </p:cNvPicPr>
          <p:nvPr/>
        </p:nvPicPr>
        <p:blipFill>
          <a:blip r:embed="rId1"/>
          <a:stretch>
            <a:fillRect/>
          </a:stretch>
        </p:blipFill>
        <p:spPr>
          <a:xfrm>
            <a:off x="1222553" y="2781605"/>
            <a:ext cx="380390" cy="380390"/>
          </a:xfrm>
          <a:prstGeom prst="rect">
            <a:avLst/>
          </a:prstGeom>
        </p:spPr>
      </p:pic>
      <p:sp>
        <p:nvSpPr>
          <p:cNvPr id="10" name="Text 7"/>
          <p:cNvSpPr txBox="1"/>
          <p:nvPr/>
        </p:nvSpPr>
        <p:spPr>
          <a:xfrm>
            <a:off x="722376" y="3429000"/>
            <a:ext cx="1380744" cy="594360"/>
          </a:xfrm>
          <a:prstGeom prst="rect">
            <a:avLst/>
          </a:prstGeom>
          <a:noFill/>
          <a:ln/>
        </p:spPr>
        <p:txBody>
          <a:bodyPr wrap="square" lIns="0" tIns="0" rIns="0" bIns="0" rtlCol="0" anchor="ctr"/>
          <a:lstStyle/>
          <a:p>
            <a:pPr algn="ctr" indent="0" marL="0">
              <a:buNone/>
            </a:pPr>
            <a:r>
              <a:rPr lang="en-US" sz="1500" b="1" dirty="0">
                <a:solidFill>
                  <a:srgbClr val="0B2545"/>
                </a:solidFill>
                <a:latin typeface="Calibri" pitchFamily="34" charset="0"/>
                <a:ea typeface="Calibri" pitchFamily="34" charset="-122"/>
                <a:cs typeface="Calibri" pitchFamily="34" charset="-120"/>
              </a:rPr>
              <a:t>Record referral</a:t>
            </a:r>
            <a:endParaRPr lang="en-US" sz="1500" dirty="0"/>
          </a:p>
        </p:txBody>
      </p:sp>
      <p:sp>
        <p:nvSpPr>
          <p:cNvPr id="11" name="Shape 8"/>
          <p:cNvSpPr/>
          <p:nvPr/>
        </p:nvSpPr>
        <p:spPr>
          <a:xfrm>
            <a:off x="2487168" y="1920240"/>
            <a:ext cx="1600200" cy="2194560"/>
          </a:xfrm>
          <a:prstGeom prst="roundRect">
            <a:avLst>
              <a:gd name="adj" fmla="val 6857"/>
            </a:avLst>
          </a:prstGeom>
          <a:solidFill>
            <a:srgbClr val="F4F7FB"/>
          </a:solidFill>
          <a:ln/>
        </p:spPr>
      </p:sp>
      <p:sp>
        <p:nvSpPr>
          <p:cNvPr id="12" name="Text 9"/>
          <p:cNvSpPr txBox="1"/>
          <p:nvPr/>
        </p:nvSpPr>
        <p:spPr>
          <a:xfrm>
            <a:off x="2670048" y="2057400"/>
            <a:ext cx="914400" cy="320040"/>
          </a:xfrm>
          <a:prstGeom prst="rect">
            <a:avLst/>
          </a:prstGeom>
          <a:noFill/>
          <a:ln/>
        </p:spPr>
        <p:txBody>
          <a:bodyPr wrap="square" lIns="0" tIns="0" rIns="0" bIns="0" rtlCol="0" anchor="ctr"/>
          <a:lstStyle/>
          <a:p>
            <a:pPr indent="0" marL="0">
              <a:buNone/>
            </a:pPr>
            <a:r>
              <a:rPr lang="en-US" sz="1400" b="1" dirty="0">
                <a:solidFill>
                  <a:srgbClr val="1F6FB2"/>
                </a:solidFill>
                <a:latin typeface="Calibri" pitchFamily="34" charset="0"/>
                <a:ea typeface="Calibri" pitchFamily="34" charset="-122"/>
                <a:cs typeface="Calibri" pitchFamily="34" charset="-120"/>
              </a:rPr>
              <a:t>02</a:t>
            </a:r>
            <a:endParaRPr lang="en-US" sz="1400" dirty="0"/>
          </a:p>
        </p:txBody>
      </p:sp>
      <p:sp>
        <p:nvSpPr>
          <p:cNvPr id="13" name="Shape 10"/>
          <p:cNvSpPr/>
          <p:nvPr/>
        </p:nvSpPr>
        <p:spPr>
          <a:xfrm>
            <a:off x="2921508" y="2606040"/>
            <a:ext cx="731520" cy="731520"/>
          </a:xfrm>
          <a:prstGeom prst="ellipse">
            <a:avLst/>
          </a:prstGeom>
          <a:solidFill>
            <a:srgbClr val="1F6FB2"/>
          </a:solidFill>
          <a:ln/>
        </p:spPr>
      </p:sp>
      <p:pic>
        <p:nvPicPr>
          <p:cNvPr id="14" name="Image 1" descr="preencoded.png">    </p:cNvPr>
          <p:cNvPicPr>
            <a:picLocks noChangeAspect="1"/>
          </p:cNvPicPr>
          <p:nvPr/>
        </p:nvPicPr>
        <p:blipFill>
          <a:blip r:embed="rId2"/>
          <a:stretch>
            <a:fillRect/>
          </a:stretch>
        </p:blipFill>
        <p:spPr>
          <a:xfrm>
            <a:off x="3097073" y="2781605"/>
            <a:ext cx="380390" cy="380390"/>
          </a:xfrm>
          <a:prstGeom prst="rect">
            <a:avLst/>
          </a:prstGeom>
        </p:spPr>
      </p:pic>
      <p:sp>
        <p:nvSpPr>
          <p:cNvPr id="15" name="Text 11"/>
          <p:cNvSpPr txBox="1"/>
          <p:nvPr/>
        </p:nvSpPr>
        <p:spPr>
          <a:xfrm>
            <a:off x="2596896" y="3429000"/>
            <a:ext cx="1380744" cy="594360"/>
          </a:xfrm>
          <a:prstGeom prst="rect">
            <a:avLst/>
          </a:prstGeom>
          <a:noFill/>
          <a:ln/>
        </p:spPr>
        <p:txBody>
          <a:bodyPr wrap="square" lIns="0" tIns="0" rIns="0" bIns="0" rtlCol="0" anchor="ctr"/>
          <a:lstStyle/>
          <a:p>
            <a:pPr algn="ctr" indent="0" marL="0">
              <a:buNone/>
            </a:pPr>
            <a:r>
              <a:rPr lang="en-US" sz="1500" b="1" dirty="0">
                <a:solidFill>
                  <a:srgbClr val="0B2545"/>
                </a:solidFill>
                <a:latin typeface="Calibri" pitchFamily="34" charset="0"/>
                <a:ea typeface="Calibri" pitchFamily="34" charset="-122"/>
                <a:cs typeface="Calibri" pitchFamily="34" charset="-120"/>
              </a:rPr>
              <a:t>Ask the patient</a:t>
            </a:r>
            <a:endParaRPr lang="en-US" sz="1500" dirty="0"/>
          </a:p>
        </p:txBody>
      </p:sp>
      <p:sp>
        <p:nvSpPr>
          <p:cNvPr id="16" name="Shape 12"/>
          <p:cNvSpPr/>
          <p:nvPr/>
        </p:nvSpPr>
        <p:spPr>
          <a:xfrm>
            <a:off x="4361688" y="1920240"/>
            <a:ext cx="1600200" cy="2194560"/>
          </a:xfrm>
          <a:prstGeom prst="roundRect">
            <a:avLst>
              <a:gd name="adj" fmla="val 6857"/>
            </a:avLst>
          </a:prstGeom>
          <a:solidFill>
            <a:srgbClr val="F4F7FB"/>
          </a:solidFill>
          <a:ln/>
        </p:spPr>
      </p:sp>
      <p:sp>
        <p:nvSpPr>
          <p:cNvPr id="17" name="Text 13"/>
          <p:cNvSpPr txBox="1"/>
          <p:nvPr/>
        </p:nvSpPr>
        <p:spPr>
          <a:xfrm>
            <a:off x="4544568" y="2057400"/>
            <a:ext cx="914400" cy="320040"/>
          </a:xfrm>
          <a:prstGeom prst="rect">
            <a:avLst/>
          </a:prstGeom>
          <a:noFill/>
          <a:ln/>
        </p:spPr>
        <p:txBody>
          <a:bodyPr wrap="square" lIns="0" tIns="0" rIns="0" bIns="0" rtlCol="0" anchor="ctr"/>
          <a:lstStyle/>
          <a:p>
            <a:pPr indent="0" marL="0">
              <a:buNone/>
            </a:pPr>
            <a:r>
              <a:rPr lang="en-US" sz="1400" b="1" dirty="0">
                <a:solidFill>
                  <a:srgbClr val="1F6FB2"/>
                </a:solidFill>
                <a:latin typeface="Calibri" pitchFamily="34" charset="0"/>
                <a:ea typeface="Calibri" pitchFamily="34" charset="-122"/>
                <a:cs typeface="Calibri" pitchFamily="34" charset="-120"/>
              </a:rPr>
              <a:t>03</a:t>
            </a:r>
            <a:endParaRPr lang="en-US" sz="1400" dirty="0"/>
          </a:p>
        </p:txBody>
      </p:sp>
      <p:sp>
        <p:nvSpPr>
          <p:cNvPr id="18" name="Shape 14"/>
          <p:cNvSpPr/>
          <p:nvPr/>
        </p:nvSpPr>
        <p:spPr>
          <a:xfrm>
            <a:off x="4796028" y="2606040"/>
            <a:ext cx="731520" cy="731520"/>
          </a:xfrm>
          <a:prstGeom prst="ellipse">
            <a:avLst/>
          </a:prstGeom>
          <a:solidFill>
            <a:srgbClr val="1F6FB2"/>
          </a:solidFill>
          <a:ln/>
        </p:spPr>
      </p:sp>
      <p:pic>
        <p:nvPicPr>
          <p:cNvPr id="19" name="Image 2" descr="preencoded.png">    </p:cNvPr>
          <p:cNvPicPr>
            <a:picLocks noChangeAspect="1"/>
          </p:cNvPicPr>
          <p:nvPr/>
        </p:nvPicPr>
        <p:blipFill>
          <a:blip r:embed="rId3"/>
          <a:stretch>
            <a:fillRect/>
          </a:stretch>
        </p:blipFill>
        <p:spPr>
          <a:xfrm>
            <a:off x="4971593" y="2781605"/>
            <a:ext cx="380390" cy="380390"/>
          </a:xfrm>
          <a:prstGeom prst="rect">
            <a:avLst/>
          </a:prstGeom>
        </p:spPr>
      </p:pic>
      <p:sp>
        <p:nvSpPr>
          <p:cNvPr id="20" name="Text 15"/>
          <p:cNvSpPr txBox="1"/>
          <p:nvPr/>
        </p:nvSpPr>
        <p:spPr>
          <a:xfrm>
            <a:off x="4471416" y="3429000"/>
            <a:ext cx="1380744" cy="594360"/>
          </a:xfrm>
          <a:prstGeom prst="rect">
            <a:avLst/>
          </a:prstGeom>
          <a:noFill/>
          <a:ln/>
        </p:spPr>
        <p:txBody>
          <a:bodyPr wrap="square" lIns="0" tIns="0" rIns="0" bIns="0" rtlCol="0" anchor="ctr"/>
          <a:lstStyle/>
          <a:p>
            <a:pPr algn="ctr" indent="0" marL="0">
              <a:buNone/>
            </a:pPr>
            <a:r>
              <a:rPr lang="en-US" sz="1500" b="1" dirty="0">
                <a:solidFill>
                  <a:srgbClr val="0B2545"/>
                </a:solidFill>
                <a:latin typeface="Calibri" pitchFamily="34" charset="0"/>
                <a:ea typeface="Calibri" pitchFamily="34" charset="-122"/>
                <a:cs typeface="Calibri" pitchFamily="34" charset="-120"/>
              </a:rPr>
              <a:t>Understand the barrier</a:t>
            </a:r>
            <a:endParaRPr lang="en-US" sz="1500" dirty="0"/>
          </a:p>
        </p:txBody>
      </p:sp>
      <p:sp>
        <p:nvSpPr>
          <p:cNvPr id="21" name="Shape 16"/>
          <p:cNvSpPr/>
          <p:nvPr/>
        </p:nvSpPr>
        <p:spPr>
          <a:xfrm>
            <a:off x="6236208" y="1920240"/>
            <a:ext cx="1600200" cy="2194560"/>
          </a:xfrm>
          <a:prstGeom prst="roundRect">
            <a:avLst>
              <a:gd name="adj" fmla="val 6857"/>
            </a:avLst>
          </a:prstGeom>
          <a:solidFill>
            <a:srgbClr val="F4F7FB"/>
          </a:solidFill>
          <a:ln/>
        </p:spPr>
      </p:sp>
      <p:sp>
        <p:nvSpPr>
          <p:cNvPr id="22" name="Text 17"/>
          <p:cNvSpPr txBox="1"/>
          <p:nvPr/>
        </p:nvSpPr>
        <p:spPr>
          <a:xfrm>
            <a:off x="6419088" y="2057400"/>
            <a:ext cx="914400" cy="320040"/>
          </a:xfrm>
          <a:prstGeom prst="rect">
            <a:avLst/>
          </a:prstGeom>
          <a:noFill/>
          <a:ln/>
        </p:spPr>
        <p:txBody>
          <a:bodyPr wrap="square" lIns="0" tIns="0" rIns="0" bIns="0" rtlCol="0" anchor="ctr"/>
          <a:lstStyle/>
          <a:p>
            <a:pPr indent="0" marL="0">
              <a:buNone/>
            </a:pPr>
            <a:r>
              <a:rPr lang="en-US" sz="1400" b="1" dirty="0">
                <a:solidFill>
                  <a:srgbClr val="1F6FB2"/>
                </a:solidFill>
                <a:latin typeface="Calibri" pitchFamily="34" charset="0"/>
                <a:ea typeface="Calibri" pitchFamily="34" charset="-122"/>
                <a:cs typeface="Calibri" pitchFamily="34" charset="-120"/>
              </a:rPr>
              <a:t>04</a:t>
            </a:r>
            <a:endParaRPr lang="en-US" sz="1400" dirty="0"/>
          </a:p>
        </p:txBody>
      </p:sp>
      <p:sp>
        <p:nvSpPr>
          <p:cNvPr id="23" name="Shape 18"/>
          <p:cNvSpPr/>
          <p:nvPr/>
        </p:nvSpPr>
        <p:spPr>
          <a:xfrm>
            <a:off x="6670548" y="2606040"/>
            <a:ext cx="731520" cy="731520"/>
          </a:xfrm>
          <a:prstGeom prst="ellipse">
            <a:avLst/>
          </a:prstGeom>
          <a:solidFill>
            <a:srgbClr val="1F6FB2"/>
          </a:solidFill>
          <a:ln/>
        </p:spPr>
      </p:sp>
      <p:pic>
        <p:nvPicPr>
          <p:cNvPr id="24" name="Image 3" descr="preencoded.png">    </p:cNvPr>
          <p:cNvPicPr>
            <a:picLocks noChangeAspect="1"/>
          </p:cNvPicPr>
          <p:nvPr/>
        </p:nvPicPr>
        <p:blipFill>
          <a:blip r:embed="rId4"/>
          <a:stretch>
            <a:fillRect/>
          </a:stretch>
        </p:blipFill>
        <p:spPr>
          <a:xfrm>
            <a:off x="6846113" y="2781605"/>
            <a:ext cx="380390" cy="380390"/>
          </a:xfrm>
          <a:prstGeom prst="rect">
            <a:avLst/>
          </a:prstGeom>
        </p:spPr>
      </p:pic>
      <p:sp>
        <p:nvSpPr>
          <p:cNvPr id="25" name="Text 19"/>
          <p:cNvSpPr txBox="1"/>
          <p:nvPr/>
        </p:nvSpPr>
        <p:spPr>
          <a:xfrm>
            <a:off x="6345936" y="3429000"/>
            <a:ext cx="1380744" cy="594360"/>
          </a:xfrm>
          <a:prstGeom prst="rect">
            <a:avLst/>
          </a:prstGeom>
          <a:noFill/>
          <a:ln/>
        </p:spPr>
        <p:txBody>
          <a:bodyPr wrap="square" lIns="0" tIns="0" rIns="0" bIns="0" rtlCol="0" anchor="ctr"/>
          <a:lstStyle/>
          <a:p>
            <a:pPr algn="ctr" indent="0" marL="0">
              <a:buNone/>
            </a:pPr>
            <a:r>
              <a:rPr lang="en-US" sz="1500" b="1" dirty="0">
                <a:solidFill>
                  <a:srgbClr val="0B2545"/>
                </a:solidFill>
                <a:latin typeface="Calibri" pitchFamily="34" charset="0"/>
                <a:ea typeface="Calibri" pitchFamily="34" charset="-122"/>
                <a:cs typeface="Calibri" pitchFamily="34" charset="-120"/>
              </a:rPr>
              <a:t>Help with the reason</a:t>
            </a:r>
            <a:endParaRPr lang="en-US" sz="1500" dirty="0"/>
          </a:p>
        </p:txBody>
      </p:sp>
      <p:sp>
        <p:nvSpPr>
          <p:cNvPr id="26" name="Shape 20"/>
          <p:cNvSpPr/>
          <p:nvPr/>
        </p:nvSpPr>
        <p:spPr>
          <a:xfrm>
            <a:off x="8110728" y="1920240"/>
            <a:ext cx="1600200" cy="2194560"/>
          </a:xfrm>
          <a:prstGeom prst="roundRect">
            <a:avLst>
              <a:gd name="adj" fmla="val 6857"/>
            </a:avLst>
          </a:prstGeom>
          <a:solidFill>
            <a:srgbClr val="E6F4EC"/>
          </a:solidFill>
          <a:ln/>
        </p:spPr>
      </p:sp>
      <p:sp>
        <p:nvSpPr>
          <p:cNvPr id="27" name="Text 21"/>
          <p:cNvSpPr txBox="1"/>
          <p:nvPr/>
        </p:nvSpPr>
        <p:spPr>
          <a:xfrm>
            <a:off x="8293608" y="2057400"/>
            <a:ext cx="914400" cy="320040"/>
          </a:xfrm>
          <a:prstGeom prst="rect">
            <a:avLst/>
          </a:prstGeom>
          <a:noFill/>
          <a:ln/>
        </p:spPr>
        <p:txBody>
          <a:bodyPr wrap="square" lIns="0" tIns="0" rIns="0" bIns="0" rtlCol="0" anchor="ctr"/>
          <a:lstStyle/>
          <a:p>
            <a:pPr indent="0" marL="0">
              <a:buNone/>
            </a:pPr>
            <a:r>
              <a:rPr lang="en-US" sz="1400" b="1" dirty="0">
                <a:solidFill>
                  <a:srgbClr val="2E9E6B"/>
                </a:solidFill>
                <a:latin typeface="Calibri" pitchFamily="34" charset="0"/>
                <a:ea typeface="Calibri" pitchFamily="34" charset="-122"/>
                <a:cs typeface="Calibri" pitchFamily="34" charset="-120"/>
              </a:rPr>
              <a:t>05</a:t>
            </a:r>
            <a:endParaRPr lang="en-US" sz="1400" dirty="0"/>
          </a:p>
        </p:txBody>
      </p:sp>
      <p:sp>
        <p:nvSpPr>
          <p:cNvPr id="28" name="Shape 22"/>
          <p:cNvSpPr/>
          <p:nvPr/>
        </p:nvSpPr>
        <p:spPr>
          <a:xfrm>
            <a:off x="8545068" y="2606040"/>
            <a:ext cx="731520" cy="731520"/>
          </a:xfrm>
          <a:prstGeom prst="ellipse">
            <a:avLst/>
          </a:prstGeom>
          <a:solidFill>
            <a:srgbClr val="2E9E6B"/>
          </a:solidFill>
          <a:ln/>
        </p:spPr>
      </p:sp>
      <p:pic>
        <p:nvPicPr>
          <p:cNvPr id="29" name="Image 4" descr="preencoded.png">    </p:cNvPr>
          <p:cNvPicPr>
            <a:picLocks noChangeAspect="1"/>
          </p:cNvPicPr>
          <p:nvPr/>
        </p:nvPicPr>
        <p:blipFill>
          <a:blip r:embed="rId5"/>
          <a:stretch>
            <a:fillRect/>
          </a:stretch>
        </p:blipFill>
        <p:spPr>
          <a:xfrm>
            <a:off x="8720633" y="2781605"/>
            <a:ext cx="380390" cy="380390"/>
          </a:xfrm>
          <a:prstGeom prst="rect">
            <a:avLst/>
          </a:prstGeom>
        </p:spPr>
      </p:pic>
      <p:sp>
        <p:nvSpPr>
          <p:cNvPr id="30" name="Text 23"/>
          <p:cNvSpPr txBox="1"/>
          <p:nvPr/>
        </p:nvSpPr>
        <p:spPr>
          <a:xfrm>
            <a:off x="8220456" y="3429000"/>
            <a:ext cx="1380744" cy="594360"/>
          </a:xfrm>
          <a:prstGeom prst="rect">
            <a:avLst/>
          </a:prstGeom>
          <a:noFill/>
          <a:ln/>
        </p:spPr>
        <p:txBody>
          <a:bodyPr wrap="square" lIns="0" tIns="0" rIns="0" bIns="0" rtlCol="0" anchor="ctr"/>
          <a:lstStyle/>
          <a:p>
            <a:pPr algn="ctr" indent="0" marL="0">
              <a:buNone/>
            </a:pPr>
            <a:r>
              <a:rPr lang="en-US" sz="1500" b="1" dirty="0">
                <a:solidFill>
                  <a:srgbClr val="0B2545"/>
                </a:solidFill>
                <a:latin typeface="Calibri" pitchFamily="34" charset="0"/>
                <a:ea typeface="Calibri" pitchFamily="34" charset="-122"/>
                <a:cs typeface="Calibri" pitchFamily="34" charset="-120"/>
              </a:rPr>
              <a:t>Confirm arrival</a:t>
            </a:r>
            <a:endParaRPr lang="en-US" sz="1500" dirty="0"/>
          </a:p>
        </p:txBody>
      </p:sp>
      <p:sp>
        <p:nvSpPr>
          <p:cNvPr id="31" name="Shape 24"/>
          <p:cNvSpPr/>
          <p:nvPr/>
        </p:nvSpPr>
        <p:spPr>
          <a:xfrm>
            <a:off x="9985248" y="1920240"/>
            <a:ext cx="1600200" cy="2194560"/>
          </a:xfrm>
          <a:prstGeom prst="roundRect">
            <a:avLst>
              <a:gd name="adj" fmla="val 6857"/>
            </a:avLst>
          </a:prstGeom>
          <a:solidFill>
            <a:srgbClr val="F4F7FB"/>
          </a:solidFill>
          <a:ln/>
        </p:spPr>
      </p:sp>
      <p:sp>
        <p:nvSpPr>
          <p:cNvPr id="32" name="Text 25"/>
          <p:cNvSpPr txBox="1"/>
          <p:nvPr/>
        </p:nvSpPr>
        <p:spPr>
          <a:xfrm>
            <a:off x="10168128" y="2057400"/>
            <a:ext cx="914400" cy="320040"/>
          </a:xfrm>
          <a:prstGeom prst="rect">
            <a:avLst/>
          </a:prstGeom>
          <a:noFill/>
          <a:ln/>
        </p:spPr>
        <p:txBody>
          <a:bodyPr wrap="square" lIns="0" tIns="0" rIns="0" bIns="0" rtlCol="0" anchor="ctr"/>
          <a:lstStyle/>
          <a:p>
            <a:pPr indent="0" marL="0">
              <a:buNone/>
            </a:pPr>
            <a:r>
              <a:rPr lang="en-US" sz="1400" b="1" dirty="0">
                <a:solidFill>
                  <a:srgbClr val="1F6FB2"/>
                </a:solidFill>
                <a:latin typeface="Calibri" pitchFamily="34" charset="0"/>
                <a:ea typeface="Calibri" pitchFamily="34" charset="-122"/>
                <a:cs typeface="Calibri" pitchFamily="34" charset="-120"/>
              </a:rPr>
              <a:t>06</a:t>
            </a:r>
            <a:endParaRPr lang="en-US" sz="1400" dirty="0"/>
          </a:p>
        </p:txBody>
      </p:sp>
      <p:sp>
        <p:nvSpPr>
          <p:cNvPr id="33" name="Shape 26"/>
          <p:cNvSpPr/>
          <p:nvPr/>
        </p:nvSpPr>
        <p:spPr>
          <a:xfrm>
            <a:off x="10419588" y="2606040"/>
            <a:ext cx="731520" cy="731520"/>
          </a:xfrm>
          <a:prstGeom prst="ellipse">
            <a:avLst/>
          </a:prstGeom>
          <a:solidFill>
            <a:srgbClr val="1F6FB2"/>
          </a:solidFill>
          <a:ln/>
        </p:spPr>
      </p:sp>
      <p:pic>
        <p:nvPicPr>
          <p:cNvPr id="34" name="Image 5" descr="preencoded.png">    </p:cNvPr>
          <p:cNvPicPr>
            <a:picLocks noChangeAspect="1"/>
          </p:cNvPicPr>
          <p:nvPr/>
        </p:nvPicPr>
        <p:blipFill>
          <a:blip r:embed="rId6"/>
          <a:stretch>
            <a:fillRect/>
          </a:stretch>
        </p:blipFill>
        <p:spPr>
          <a:xfrm>
            <a:off x="10595153" y="2781605"/>
            <a:ext cx="380390" cy="380390"/>
          </a:xfrm>
          <a:prstGeom prst="rect">
            <a:avLst/>
          </a:prstGeom>
        </p:spPr>
      </p:pic>
      <p:sp>
        <p:nvSpPr>
          <p:cNvPr id="35" name="Text 27"/>
          <p:cNvSpPr txBox="1"/>
          <p:nvPr/>
        </p:nvSpPr>
        <p:spPr>
          <a:xfrm>
            <a:off x="10094976" y="3429000"/>
            <a:ext cx="1380744" cy="594360"/>
          </a:xfrm>
          <a:prstGeom prst="rect">
            <a:avLst/>
          </a:prstGeom>
          <a:noFill/>
          <a:ln/>
        </p:spPr>
        <p:txBody>
          <a:bodyPr wrap="square" lIns="0" tIns="0" rIns="0" bIns="0" rtlCol="0" anchor="ctr"/>
          <a:lstStyle/>
          <a:p>
            <a:pPr algn="ctr" indent="0" marL="0">
              <a:buNone/>
            </a:pPr>
            <a:r>
              <a:rPr lang="en-US" sz="1500" b="1" dirty="0">
                <a:solidFill>
                  <a:srgbClr val="0B2545"/>
                </a:solidFill>
                <a:latin typeface="Calibri" pitchFamily="34" charset="0"/>
                <a:ea typeface="Calibri" pitchFamily="34" charset="-122"/>
                <a:cs typeface="Calibri" pitchFamily="34" charset="-120"/>
              </a:rPr>
              <a:t>Track the next step</a:t>
            </a:r>
            <a:endParaRPr lang="en-US" sz="1500" dirty="0"/>
          </a:p>
        </p:txBody>
      </p:sp>
      <p:sp>
        <p:nvSpPr>
          <p:cNvPr id="36" name="Shape 28"/>
          <p:cNvSpPr/>
          <p:nvPr/>
        </p:nvSpPr>
        <p:spPr>
          <a:xfrm>
            <a:off x="612648" y="4389120"/>
            <a:ext cx="5349240" cy="1280160"/>
          </a:xfrm>
          <a:prstGeom prst="roundRect">
            <a:avLst>
              <a:gd name="adj" fmla="val 8571"/>
            </a:avLst>
          </a:prstGeom>
          <a:solidFill>
            <a:srgbClr val="FFFFFF"/>
          </a:solidFill>
          <a:ln w="12700">
            <a:solidFill>
              <a:srgbClr val="D5DEE8"/>
            </a:solidFill>
            <a:prstDash val="solid"/>
          </a:ln>
        </p:spPr>
      </p:sp>
      <p:sp>
        <p:nvSpPr>
          <p:cNvPr id="37" name="Shape 29"/>
          <p:cNvSpPr/>
          <p:nvPr/>
        </p:nvSpPr>
        <p:spPr>
          <a:xfrm>
            <a:off x="932688" y="4636008"/>
            <a:ext cx="786384" cy="786384"/>
          </a:xfrm>
          <a:prstGeom prst="ellipse">
            <a:avLst/>
          </a:prstGeom>
          <a:solidFill>
            <a:srgbClr val="1F6FB2"/>
          </a:solidFill>
          <a:ln/>
        </p:spPr>
      </p:sp>
      <p:pic>
        <p:nvPicPr>
          <p:cNvPr id="38" name="Image 6" descr="preencoded.png">    </p:cNvPr>
          <p:cNvPicPr>
            <a:picLocks noChangeAspect="1"/>
          </p:cNvPicPr>
          <p:nvPr/>
        </p:nvPicPr>
        <p:blipFill>
          <a:blip r:embed="rId7"/>
          <a:stretch>
            <a:fillRect/>
          </a:stretch>
        </p:blipFill>
        <p:spPr>
          <a:xfrm>
            <a:off x="1121420" y="4824740"/>
            <a:ext cx="408920" cy="408920"/>
          </a:xfrm>
          <a:prstGeom prst="rect">
            <a:avLst/>
          </a:prstGeom>
        </p:spPr>
      </p:pic>
      <p:sp>
        <p:nvSpPr>
          <p:cNvPr id="39" name="Text 30"/>
          <p:cNvSpPr txBox="1"/>
          <p:nvPr/>
        </p:nvSpPr>
        <p:spPr>
          <a:xfrm>
            <a:off x="1938528" y="4572000"/>
            <a:ext cx="3840480" cy="411480"/>
          </a:xfrm>
          <a:prstGeom prst="rect">
            <a:avLst/>
          </a:prstGeom>
          <a:noFill/>
          <a:ln/>
        </p:spPr>
        <p:txBody>
          <a:bodyPr wrap="square" lIns="0" tIns="0" rIns="0" bIns="0" rtlCol="0" anchor="ctr"/>
          <a:lstStyle/>
          <a:p>
            <a:pPr indent="0" marL="0">
              <a:buNone/>
            </a:pPr>
            <a:r>
              <a:rPr lang="en-US" sz="2200" b="1" dirty="0">
                <a:solidFill>
                  <a:srgbClr val="0B2545"/>
                </a:solidFill>
                <a:latin typeface="Calibri" pitchFamily="34" charset="0"/>
                <a:ea typeface="Calibri" pitchFamily="34" charset="-122"/>
                <a:cs typeface="Calibri" pitchFamily="34" charset="-120"/>
              </a:rPr>
              <a:t>The worker helps.</a:t>
            </a:r>
            <a:endParaRPr lang="en-US" sz="2200" dirty="0"/>
          </a:p>
        </p:txBody>
      </p:sp>
      <p:sp>
        <p:nvSpPr>
          <p:cNvPr id="40" name="Text 31"/>
          <p:cNvSpPr txBox="1"/>
          <p:nvPr/>
        </p:nvSpPr>
        <p:spPr>
          <a:xfrm>
            <a:off x="1938528" y="5029200"/>
            <a:ext cx="3840480" cy="45720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Asks why and helps with the reason.</a:t>
            </a:r>
            <a:endParaRPr lang="en-US" sz="1500" dirty="0"/>
          </a:p>
        </p:txBody>
      </p:sp>
      <p:sp>
        <p:nvSpPr>
          <p:cNvPr id="41" name="Shape 32"/>
          <p:cNvSpPr/>
          <p:nvPr/>
        </p:nvSpPr>
        <p:spPr>
          <a:xfrm>
            <a:off x="6236208" y="4389120"/>
            <a:ext cx="5349240" cy="1280160"/>
          </a:xfrm>
          <a:prstGeom prst="roundRect">
            <a:avLst>
              <a:gd name="adj" fmla="val 8571"/>
            </a:avLst>
          </a:prstGeom>
          <a:solidFill>
            <a:srgbClr val="FFFFFF"/>
          </a:solidFill>
          <a:ln w="12700">
            <a:solidFill>
              <a:srgbClr val="D5DEE8"/>
            </a:solidFill>
            <a:prstDash val="solid"/>
          </a:ln>
        </p:spPr>
      </p:sp>
      <p:sp>
        <p:nvSpPr>
          <p:cNvPr id="42" name="Shape 33"/>
          <p:cNvSpPr/>
          <p:nvPr/>
        </p:nvSpPr>
        <p:spPr>
          <a:xfrm>
            <a:off x="6556248" y="4636008"/>
            <a:ext cx="786384" cy="786384"/>
          </a:xfrm>
          <a:prstGeom prst="ellipse">
            <a:avLst/>
          </a:prstGeom>
          <a:solidFill>
            <a:srgbClr val="2E9E6B"/>
          </a:solidFill>
          <a:ln/>
        </p:spPr>
      </p:sp>
      <p:pic>
        <p:nvPicPr>
          <p:cNvPr id="43" name="Image 7" descr="preencoded.png">    </p:cNvPr>
          <p:cNvPicPr>
            <a:picLocks noChangeAspect="1"/>
          </p:cNvPicPr>
          <p:nvPr/>
        </p:nvPicPr>
        <p:blipFill>
          <a:blip r:embed="rId8"/>
          <a:stretch>
            <a:fillRect/>
          </a:stretch>
        </p:blipFill>
        <p:spPr>
          <a:xfrm>
            <a:off x="6744980" y="4824740"/>
            <a:ext cx="408920" cy="408920"/>
          </a:xfrm>
          <a:prstGeom prst="rect">
            <a:avLst/>
          </a:prstGeom>
        </p:spPr>
      </p:pic>
      <p:sp>
        <p:nvSpPr>
          <p:cNvPr id="44" name="Text 34"/>
          <p:cNvSpPr txBox="1"/>
          <p:nvPr/>
        </p:nvSpPr>
        <p:spPr>
          <a:xfrm>
            <a:off x="7562088" y="4572000"/>
            <a:ext cx="3840480" cy="411480"/>
          </a:xfrm>
          <a:prstGeom prst="rect">
            <a:avLst/>
          </a:prstGeom>
          <a:noFill/>
          <a:ln/>
        </p:spPr>
        <p:txBody>
          <a:bodyPr wrap="square" lIns="0" tIns="0" rIns="0" bIns="0" rtlCol="0" anchor="ctr"/>
          <a:lstStyle/>
          <a:p>
            <a:pPr indent="0" marL="0">
              <a:buNone/>
            </a:pPr>
            <a:r>
              <a:rPr lang="en-US" sz="2200" b="1" dirty="0">
                <a:solidFill>
                  <a:srgbClr val="0B2545"/>
                </a:solidFill>
                <a:latin typeface="Calibri" pitchFamily="34" charset="0"/>
                <a:ea typeface="Calibri" pitchFamily="34" charset="-122"/>
                <a:cs typeface="Calibri" pitchFamily="34" charset="-120"/>
              </a:rPr>
              <a:t>The facility confirms.</a:t>
            </a:r>
            <a:endParaRPr lang="en-US" sz="2200" dirty="0"/>
          </a:p>
        </p:txBody>
      </p:sp>
      <p:sp>
        <p:nvSpPr>
          <p:cNvPr id="45" name="Text 35"/>
          <p:cNvSpPr txBox="1"/>
          <p:nvPr/>
        </p:nvSpPr>
        <p:spPr>
          <a:xfrm>
            <a:off x="7562088" y="5029200"/>
            <a:ext cx="3840480" cy="45720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Confirms arrival, so the next step can be tracked.</a:t>
            </a:r>
            <a:endParaRPr lang="en-US" sz="1500" dirty="0"/>
          </a:p>
        </p:txBody>
      </p:sp>
      <p:pic>
        <p:nvPicPr>
          <p:cNvPr id="46" name="Image 8" descr="preencoded.png">    </p:cNvPr>
          <p:cNvPicPr>
            <a:picLocks noChangeAspect="1"/>
          </p:cNvPicPr>
          <p:nvPr/>
        </p:nvPicPr>
        <p:blipFill>
          <a:blip r:embed="rId9"/>
          <a:stretch>
            <a:fillRect/>
          </a:stretch>
        </p:blipFill>
        <p:spPr>
          <a:xfrm>
            <a:off x="612648" y="5897880"/>
            <a:ext cx="274320" cy="274320"/>
          </a:xfrm>
          <a:prstGeom prst="rect">
            <a:avLst/>
          </a:prstGeom>
        </p:spPr>
      </p:pic>
      <p:sp>
        <p:nvSpPr>
          <p:cNvPr id="47" name="Text 36"/>
          <p:cNvSpPr txBox="1"/>
          <p:nvPr/>
        </p:nvSpPr>
        <p:spPr>
          <a:xfrm>
            <a:off x="978408" y="5879592"/>
            <a:ext cx="10058400" cy="310896"/>
          </a:xfrm>
          <a:prstGeom prst="rect">
            <a:avLst/>
          </a:prstGeom>
          <a:noFill/>
          <a:ln/>
        </p:spPr>
        <p:txBody>
          <a:bodyPr wrap="square" lIns="0" tIns="0" rIns="0" bIns="0" rtlCol="0" anchor="ctr"/>
          <a:lstStyle/>
          <a:p>
            <a:pPr indent="0" marL="0">
              <a:buNone/>
            </a:pPr>
            <a:r>
              <a:rPr lang="en-US" sz="1400" i="1" dirty="0">
                <a:solidFill>
                  <a:srgbClr val="334155"/>
                </a:solidFill>
                <a:latin typeface="Calibri" pitchFamily="34" charset="0"/>
                <a:ea typeface="Calibri" pitchFamily="34" charset="-122"/>
                <a:cs typeface="Calibri" pitchFamily="34" charset="-120"/>
              </a:rPr>
              <a:t>Simple checks flag unconfirmed referrals for review.</a:t>
            </a:r>
            <a:endParaRPr lang="en-US" sz="14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12648" y="384048"/>
            <a:ext cx="10972800" cy="274320"/>
          </a:xfrm>
          <a:prstGeom prst="rect">
            <a:avLst/>
          </a:prstGeom>
          <a:noFill/>
          <a:ln/>
        </p:spPr>
        <p:txBody>
          <a:bodyPr wrap="square" lIns="0" tIns="0" rIns="0" bIns="0" rtlCol="0" anchor="ctr"/>
          <a:lstStyle/>
          <a:p>
            <a:pPr indent="0" marL="0">
              <a:buNone/>
            </a:pPr>
            <a:r>
              <a:rPr lang="en-US" sz="1200" b="1" spc="200" kern="0" dirty="0">
                <a:solidFill>
                  <a:srgbClr val="1F6FB2"/>
                </a:solidFill>
                <a:latin typeface="Calibri" pitchFamily="34" charset="0"/>
                <a:ea typeface="Calibri" pitchFamily="34" charset="-122"/>
                <a:cs typeface="Calibri" pitchFamily="34" charset="-120"/>
              </a:rPr>
              <a:t>05 — TRANSPORT: ONE SYNTHETIC EXAMPLE</a:t>
            </a:r>
            <a:endParaRPr lang="en-US" sz="1200" dirty="0"/>
          </a:p>
        </p:txBody>
      </p:sp>
      <p:sp>
        <p:nvSpPr>
          <p:cNvPr id="3" name="Text 1"/>
          <p:cNvSpPr txBox="1"/>
          <p:nvPr/>
        </p:nvSpPr>
        <p:spPr>
          <a:xfrm>
            <a:off x="612648" y="685800"/>
            <a:ext cx="10972800" cy="731520"/>
          </a:xfrm>
          <a:prstGeom prst="rect">
            <a:avLst/>
          </a:prstGeom>
          <a:noFill/>
          <a:ln/>
        </p:spPr>
        <p:txBody>
          <a:bodyPr wrap="square" lIns="0" tIns="0" rIns="0" bIns="0" rtlCol="0" anchor="ctr"/>
          <a:lstStyle/>
          <a:p>
            <a:pPr indent="0" marL="0">
              <a:buNone/>
            </a:pPr>
            <a:r>
              <a:rPr lang="en-US" sz="3600" b="1" dirty="0">
                <a:solidFill>
                  <a:srgbClr val="0B2545"/>
                </a:solidFill>
                <a:latin typeface="Calibri" pitchFamily="34" charset="0"/>
                <a:ea typeface="Calibri" pitchFamily="34" charset="-122"/>
                <a:cs typeface="Calibri" pitchFamily="34" charset="-120"/>
              </a:rPr>
              <a:t>Ravi needs a ride.</a:t>
            </a:r>
            <a:endParaRPr lang="en-US" sz="3600" dirty="0"/>
          </a:p>
        </p:txBody>
      </p:sp>
      <p:sp>
        <p:nvSpPr>
          <p:cNvPr id="4" name="Shape 2"/>
          <p:cNvSpPr/>
          <p:nvPr/>
        </p:nvSpPr>
        <p:spPr>
          <a:xfrm>
            <a:off x="9573768" y="804672"/>
            <a:ext cx="2011680" cy="411480"/>
          </a:xfrm>
          <a:prstGeom prst="roundRect">
            <a:avLst>
              <a:gd name="adj" fmla="val 48889"/>
            </a:avLst>
          </a:prstGeom>
          <a:solidFill>
            <a:srgbClr val="E6F4EC"/>
          </a:solidFill>
          <a:ln/>
        </p:spPr>
      </p:sp>
      <p:sp>
        <p:nvSpPr>
          <p:cNvPr id="5" name="Text 3"/>
          <p:cNvSpPr txBox="1"/>
          <p:nvPr/>
        </p:nvSpPr>
        <p:spPr>
          <a:xfrm>
            <a:off x="9573768" y="804672"/>
            <a:ext cx="2011680" cy="411480"/>
          </a:xfrm>
          <a:prstGeom prst="rect">
            <a:avLst/>
          </a:prstGeom>
          <a:noFill/>
          <a:ln/>
        </p:spPr>
        <p:txBody>
          <a:bodyPr wrap="square" lIns="0" tIns="0" rIns="0" bIns="0" rtlCol="0" anchor="ctr"/>
          <a:lstStyle/>
          <a:p>
            <a:pPr algn="ctr" indent="0" marL="0">
              <a:buNone/>
            </a:pPr>
            <a:r>
              <a:rPr lang="en-US" sz="1200" b="1" spc="100" kern="0" dirty="0">
                <a:solidFill>
                  <a:srgbClr val="2E9E6B"/>
                </a:solidFill>
                <a:latin typeface="Calibri" pitchFamily="34" charset="0"/>
                <a:ea typeface="Calibri" pitchFamily="34" charset="-122"/>
                <a:cs typeface="Calibri" pitchFamily="34" charset="-120"/>
              </a:rPr>
              <a:t>SYNTHETIC EXAMPLE</a:t>
            </a:r>
            <a:endParaRPr lang="en-US" sz="1200" dirty="0"/>
          </a:p>
        </p:txBody>
      </p:sp>
      <p:sp>
        <p:nvSpPr>
          <p:cNvPr id="6" name="Shape 4"/>
          <p:cNvSpPr/>
          <p:nvPr/>
        </p:nvSpPr>
        <p:spPr>
          <a:xfrm>
            <a:off x="612648" y="1737360"/>
            <a:ext cx="4023360" cy="4343400"/>
          </a:xfrm>
          <a:prstGeom prst="roundRect">
            <a:avLst>
              <a:gd name="adj" fmla="val 2727"/>
            </a:avLst>
          </a:prstGeom>
          <a:solidFill>
            <a:srgbClr val="0B2545"/>
          </a:solidFill>
          <a:ln/>
        </p:spPr>
      </p:sp>
      <p:sp>
        <p:nvSpPr>
          <p:cNvPr id="7" name="Shape 5"/>
          <p:cNvSpPr/>
          <p:nvPr/>
        </p:nvSpPr>
        <p:spPr>
          <a:xfrm>
            <a:off x="960120" y="2103120"/>
            <a:ext cx="914400" cy="914400"/>
          </a:xfrm>
          <a:prstGeom prst="ellipse">
            <a:avLst/>
          </a:prstGeom>
          <a:solidFill>
            <a:srgbClr val="1A4A85"/>
          </a:solidFill>
          <a:ln/>
        </p:spPr>
      </p:sp>
      <p:pic>
        <p:nvPicPr>
          <p:cNvPr id="8" name="Image 0" descr="preencoded.png">    </p:cNvPr>
          <p:cNvPicPr>
            <a:picLocks noChangeAspect="1"/>
          </p:cNvPicPr>
          <p:nvPr/>
        </p:nvPicPr>
        <p:blipFill>
          <a:blip r:embed="rId1"/>
          <a:stretch>
            <a:fillRect/>
          </a:stretch>
        </p:blipFill>
        <p:spPr>
          <a:xfrm>
            <a:off x="1179576" y="2322576"/>
            <a:ext cx="475488" cy="475488"/>
          </a:xfrm>
          <a:prstGeom prst="rect">
            <a:avLst/>
          </a:prstGeom>
        </p:spPr>
      </p:pic>
      <p:sp>
        <p:nvSpPr>
          <p:cNvPr id="9" name="Text 6"/>
          <p:cNvSpPr txBox="1"/>
          <p:nvPr/>
        </p:nvSpPr>
        <p:spPr>
          <a:xfrm>
            <a:off x="2057400" y="2148840"/>
            <a:ext cx="228600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Ravi</a:t>
            </a:r>
            <a:endParaRPr lang="en-US" sz="2800" dirty="0"/>
          </a:p>
        </p:txBody>
      </p:sp>
      <p:sp>
        <p:nvSpPr>
          <p:cNvPr id="10" name="Text 7"/>
          <p:cNvSpPr txBox="1"/>
          <p:nvPr/>
        </p:nvSpPr>
        <p:spPr>
          <a:xfrm>
            <a:off x="2057400" y="2606040"/>
            <a:ext cx="2468880" cy="365760"/>
          </a:xfrm>
          <a:prstGeom prst="rect">
            <a:avLst/>
          </a:prstGeom>
          <a:noFill/>
          <a:ln/>
        </p:spPr>
        <p:txBody>
          <a:bodyPr wrap="square" lIns="0" tIns="0" rIns="0" bIns="0" rtlCol="0" anchor="ctr"/>
          <a:lstStyle/>
          <a:p>
            <a:pPr indent="0" marL="0">
              <a:buNone/>
            </a:pPr>
            <a:r>
              <a:rPr lang="en-US" sz="1300" dirty="0">
                <a:solidFill>
                  <a:srgbClr val="9CC7EE"/>
                </a:solidFill>
                <a:latin typeface="Calibri" pitchFamily="34" charset="0"/>
                <a:ea typeface="Calibri" pitchFamily="34" charset="-122"/>
                <a:cs typeface="Calibri" pitchFamily="34" charset="-120"/>
              </a:rPr>
              <a:t>Synthetic example</a:t>
            </a:r>
            <a:endParaRPr lang="en-US" sz="1300" dirty="0"/>
          </a:p>
        </p:txBody>
      </p:sp>
      <p:sp>
        <p:nvSpPr>
          <p:cNvPr id="11" name="Shape 8"/>
          <p:cNvSpPr/>
          <p:nvPr/>
        </p:nvSpPr>
        <p:spPr>
          <a:xfrm>
            <a:off x="960120" y="3429000"/>
            <a:ext cx="3337560" cy="1371600"/>
          </a:xfrm>
          <a:prstGeom prst="roundRect">
            <a:avLst>
              <a:gd name="adj" fmla="val 13333"/>
            </a:avLst>
          </a:prstGeom>
          <a:solidFill>
            <a:srgbClr val="FFFFFF"/>
          </a:solidFill>
          <a:ln/>
        </p:spPr>
      </p:sp>
      <p:sp>
        <p:nvSpPr>
          <p:cNvPr id="12" name="Shape 9"/>
          <p:cNvSpPr/>
          <p:nvPr/>
        </p:nvSpPr>
        <p:spPr>
          <a:xfrm flipV="1">
            <a:off x="1280160" y="3200400"/>
            <a:ext cx="320040" cy="256032"/>
          </a:xfrm>
          <a:prstGeom prst="rtTriangle">
            <a:avLst/>
          </a:prstGeom>
          <a:solidFill>
            <a:srgbClr val="FFFFFF"/>
          </a:solidFill>
          <a:ln/>
        </p:spPr>
      </p:sp>
      <p:sp>
        <p:nvSpPr>
          <p:cNvPr id="13" name="Text 10"/>
          <p:cNvSpPr txBox="1"/>
          <p:nvPr/>
        </p:nvSpPr>
        <p:spPr>
          <a:xfrm>
            <a:off x="1143000" y="3520440"/>
            <a:ext cx="3017520" cy="1188720"/>
          </a:xfrm>
          <a:prstGeom prst="rect">
            <a:avLst/>
          </a:prstGeom>
          <a:noFill/>
          <a:ln/>
        </p:spPr>
        <p:txBody>
          <a:bodyPr wrap="square" lIns="0" tIns="0" rIns="0" bIns="0" rtlCol="0" anchor="ctr"/>
          <a:lstStyle/>
          <a:p>
            <a:pPr algn="ctr" indent="0" marL="0">
              <a:buNone/>
            </a:pPr>
            <a:r>
              <a:rPr lang="en-US" sz="3000" b="1" i="1" dirty="0">
                <a:solidFill>
                  <a:srgbClr val="0B2545"/>
                </a:solidFill>
                <a:latin typeface="Calibri" pitchFamily="34" charset="0"/>
                <a:ea typeface="Calibri" pitchFamily="34" charset="-122"/>
                <a:cs typeface="Calibri" pitchFamily="34" charset="-120"/>
              </a:rPr>
              <a:t>“I have no ride.”</a:t>
            </a:r>
            <a:endParaRPr lang="en-US" sz="3000" dirty="0"/>
          </a:p>
        </p:txBody>
      </p:sp>
      <p:sp>
        <p:nvSpPr>
          <p:cNvPr id="14" name="Text 11"/>
          <p:cNvSpPr txBox="1"/>
          <p:nvPr/>
        </p:nvSpPr>
        <p:spPr>
          <a:xfrm>
            <a:off x="960120" y="5029200"/>
            <a:ext cx="3383280" cy="731520"/>
          </a:xfrm>
          <a:prstGeom prst="rect">
            <a:avLst/>
          </a:prstGeom>
          <a:noFill/>
          <a:ln/>
        </p:spPr>
        <p:txBody>
          <a:bodyPr wrap="square" lIns="0" tIns="0" rIns="0" bIns="0" rtlCol="0" anchor="t"/>
          <a:lstStyle/>
          <a:p>
            <a:pPr indent="0" marL="0">
              <a:buNone/>
            </a:pPr>
            <a:r>
              <a:rPr lang="en-US" sz="1500" dirty="0">
                <a:solidFill>
                  <a:srgbClr val="C9D8E8"/>
                </a:solidFill>
                <a:latin typeface="Calibri" pitchFamily="34" charset="0"/>
                <a:ea typeface="Calibri" pitchFamily="34" charset="-122"/>
                <a:cs typeface="Calibri" pitchFamily="34" charset="-120"/>
              </a:rPr>
              <a:t>Doctor refers Ravi → worker checks → helps with travel</a:t>
            </a:r>
            <a:endParaRPr lang="en-US" sz="1500" dirty="0"/>
          </a:p>
        </p:txBody>
      </p:sp>
      <p:sp>
        <p:nvSpPr>
          <p:cNvPr id="15" name="Shape 12"/>
          <p:cNvSpPr/>
          <p:nvPr/>
        </p:nvSpPr>
        <p:spPr>
          <a:xfrm>
            <a:off x="5449824" y="2020824"/>
            <a:ext cx="0" cy="3675888"/>
          </a:xfrm>
          <a:prstGeom prst="line">
            <a:avLst/>
          </a:prstGeom>
          <a:noFill/>
          <a:ln w="25400">
            <a:solidFill>
              <a:srgbClr val="D5DEE8"/>
            </a:solidFill>
            <a:prstDash val="solid"/>
          </a:ln>
        </p:spPr>
      </p:sp>
      <p:sp>
        <p:nvSpPr>
          <p:cNvPr id="16" name="Shape 13"/>
          <p:cNvSpPr/>
          <p:nvPr/>
        </p:nvSpPr>
        <p:spPr>
          <a:xfrm>
            <a:off x="5212080" y="1783080"/>
            <a:ext cx="475488" cy="475488"/>
          </a:xfrm>
          <a:prstGeom prst="ellipse">
            <a:avLst/>
          </a:prstGeom>
          <a:solidFill>
            <a:srgbClr val="1F6FB2"/>
          </a:solidFill>
          <a:ln/>
        </p:spPr>
      </p:sp>
      <p:pic>
        <p:nvPicPr>
          <p:cNvPr id="17" name="Image 1" descr="preencoded.png">    </p:cNvPr>
          <p:cNvPicPr>
            <a:picLocks noChangeAspect="1"/>
          </p:cNvPicPr>
          <p:nvPr/>
        </p:nvPicPr>
        <p:blipFill>
          <a:blip r:embed="rId2"/>
          <a:stretch>
            <a:fillRect/>
          </a:stretch>
        </p:blipFill>
        <p:spPr>
          <a:xfrm>
            <a:off x="5319065" y="1890065"/>
            <a:ext cx="261518" cy="261518"/>
          </a:xfrm>
          <a:prstGeom prst="rect">
            <a:avLst/>
          </a:prstGeom>
        </p:spPr>
      </p:pic>
      <p:sp>
        <p:nvSpPr>
          <p:cNvPr id="18" name="Text 14"/>
          <p:cNvSpPr txBox="1"/>
          <p:nvPr/>
        </p:nvSpPr>
        <p:spPr>
          <a:xfrm>
            <a:off x="6035040" y="1783080"/>
            <a:ext cx="5486400" cy="475488"/>
          </a:xfrm>
          <a:prstGeom prst="rect">
            <a:avLst/>
          </a:prstGeom>
          <a:noFill/>
          <a:ln/>
        </p:spPr>
        <p:txBody>
          <a:bodyPr wrap="square" lIns="0" tIns="0" rIns="0" bIns="0" rtlCol="0" anchor="ctr"/>
          <a:lstStyle/>
          <a:p>
            <a:pPr indent="0" marL="0">
              <a:buNone/>
            </a:pPr>
            <a:r>
              <a:rPr lang="en-US" sz="1800" dirty="0">
                <a:solidFill>
                  <a:srgbClr val="0B2545"/>
                </a:solidFill>
                <a:latin typeface="Calibri" pitchFamily="34" charset="0"/>
                <a:ea typeface="Calibri" pitchFamily="34" charset="-122"/>
                <a:cs typeface="Calibri" pitchFamily="34" charset="-120"/>
              </a:rPr>
              <a:t>Ravi needs a hospital visit.</a:t>
            </a:r>
            <a:endParaRPr lang="en-US" sz="1800" dirty="0"/>
          </a:p>
        </p:txBody>
      </p:sp>
      <p:sp>
        <p:nvSpPr>
          <p:cNvPr id="19" name="Shape 15"/>
          <p:cNvSpPr/>
          <p:nvPr/>
        </p:nvSpPr>
        <p:spPr>
          <a:xfrm>
            <a:off x="5212080" y="2395728"/>
            <a:ext cx="475488" cy="475488"/>
          </a:xfrm>
          <a:prstGeom prst="ellipse">
            <a:avLst/>
          </a:prstGeom>
          <a:solidFill>
            <a:srgbClr val="1F6FB2"/>
          </a:solidFill>
          <a:ln/>
        </p:spPr>
      </p:sp>
      <p:pic>
        <p:nvPicPr>
          <p:cNvPr id="20" name="Image 2" descr="preencoded.png">    </p:cNvPr>
          <p:cNvPicPr>
            <a:picLocks noChangeAspect="1"/>
          </p:cNvPicPr>
          <p:nvPr/>
        </p:nvPicPr>
        <p:blipFill>
          <a:blip r:embed="rId3"/>
          <a:stretch>
            <a:fillRect/>
          </a:stretch>
        </p:blipFill>
        <p:spPr>
          <a:xfrm>
            <a:off x="5319065" y="2502713"/>
            <a:ext cx="261518" cy="261518"/>
          </a:xfrm>
          <a:prstGeom prst="rect">
            <a:avLst/>
          </a:prstGeom>
        </p:spPr>
      </p:pic>
      <p:sp>
        <p:nvSpPr>
          <p:cNvPr id="21" name="Text 16"/>
          <p:cNvSpPr txBox="1"/>
          <p:nvPr/>
        </p:nvSpPr>
        <p:spPr>
          <a:xfrm>
            <a:off x="6035040" y="2395728"/>
            <a:ext cx="5486400" cy="475488"/>
          </a:xfrm>
          <a:prstGeom prst="rect">
            <a:avLst/>
          </a:prstGeom>
          <a:noFill/>
          <a:ln/>
        </p:spPr>
        <p:txBody>
          <a:bodyPr wrap="square" lIns="0" tIns="0" rIns="0" bIns="0" rtlCol="0" anchor="ctr"/>
          <a:lstStyle/>
          <a:p>
            <a:pPr indent="0" marL="0">
              <a:buNone/>
            </a:pPr>
            <a:r>
              <a:rPr lang="en-US" sz="1800" dirty="0">
                <a:solidFill>
                  <a:srgbClr val="0B2545"/>
                </a:solidFill>
                <a:latin typeface="Calibri" pitchFamily="34" charset="0"/>
                <a:ea typeface="Calibri" pitchFamily="34" charset="-122"/>
                <a:cs typeface="Calibri" pitchFamily="34" charset="-120"/>
              </a:rPr>
              <a:t>Arrival is unconfirmed.</a:t>
            </a:r>
            <a:endParaRPr lang="en-US" sz="1800" dirty="0"/>
          </a:p>
        </p:txBody>
      </p:sp>
      <p:sp>
        <p:nvSpPr>
          <p:cNvPr id="22" name="Shape 17"/>
          <p:cNvSpPr/>
          <p:nvPr/>
        </p:nvSpPr>
        <p:spPr>
          <a:xfrm>
            <a:off x="5212080" y="3008376"/>
            <a:ext cx="475488" cy="475488"/>
          </a:xfrm>
          <a:prstGeom prst="ellipse">
            <a:avLst/>
          </a:prstGeom>
          <a:solidFill>
            <a:srgbClr val="1F6FB2"/>
          </a:solidFill>
          <a:ln/>
        </p:spPr>
      </p:sp>
      <p:pic>
        <p:nvPicPr>
          <p:cNvPr id="23" name="Image 3" descr="preencoded.png">    </p:cNvPr>
          <p:cNvPicPr>
            <a:picLocks noChangeAspect="1"/>
          </p:cNvPicPr>
          <p:nvPr/>
        </p:nvPicPr>
        <p:blipFill>
          <a:blip r:embed="rId4"/>
          <a:stretch>
            <a:fillRect/>
          </a:stretch>
        </p:blipFill>
        <p:spPr>
          <a:xfrm>
            <a:off x="5319065" y="3115361"/>
            <a:ext cx="261518" cy="261518"/>
          </a:xfrm>
          <a:prstGeom prst="rect">
            <a:avLst/>
          </a:prstGeom>
        </p:spPr>
      </p:pic>
      <p:sp>
        <p:nvSpPr>
          <p:cNvPr id="24" name="Text 18"/>
          <p:cNvSpPr txBox="1"/>
          <p:nvPr/>
        </p:nvSpPr>
        <p:spPr>
          <a:xfrm>
            <a:off x="6035040" y="3008376"/>
            <a:ext cx="5486400" cy="475488"/>
          </a:xfrm>
          <a:prstGeom prst="rect">
            <a:avLst/>
          </a:prstGeom>
          <a:noFill/>
          <a:ln/>
        </p:spPr>
        <p:txBody>
          <a:bodyPr wrap="square" lIns="0" tIns="0" rIns="0" bIns="0" rtlCol="0" anchor="ctr"/>
          <a:lstStyle/>
          <a:p>
            <a:pPr indent="0" marL="0">
              <a:buNone/>
            </a:pPr>
            <a:r>
              <a:rPr lang="en-US" sz="1800" dirty="0">
                <a:solidFill>
                  <a:srgbClr val="0B2545"/>
                </a:solidFill>
                <a:latin typeface="Calibri" pitchFamily="34" charset="0"/>
                <a:ea typeface="Calibri" pitchFamily="34" charset="-122"/>
                <a:cs typeface="Calibri" pitchFamily="34" charset="-120"/>
              </a:rPr>
              <a:t>Worker asks Ravi.</a:t>
            </a:r>
            <a:endParaRPr lang="en-US" sz="1800" dirty="0"/>
          </a:p>
        </p:txBody>
      </p:sp>
      <p:sp>
        <p:nvSpPr>
          <p:cNvPr id="25" name="Shape 19"/>
          <p:cNvSpPr/>
          <p:nvPr/>
        </p:nvSpPr>
        <p:spPr>
          <a:xfrm>
            <a:off x="5897880" y="3584448"/>
            <a:ext cx="5669280" cy="548640"/>
          </a:xfrm>
          <a:prstGeom prst="roundRect">
            <a:avLst>
              <a:gd name="adj" fmla="val 20000"/>
            </a:avLst>
          </a:prstGeom>
          <a:solidFill>
            <a:srgbClr val="E8F1FA"/>
          </a:solidFill>
          <a:ln/>
        </p:spPr>
      </p:sp>
      <p:sp>
        <p:nvSpPr>
          <p:cNvPr id="26" name="Shape 20"/>
          <p:cNvSpPr/>
          <p:nvPr/>
        </p:nvSpPr>
        <p:spPr>
          <a:xfrm>
            <a:off x="5212080" y="3621024"/>
            <a:ext cx="475488" cy="475488"/>
          </a:xfrm>
          <a:prstGeom prst="ellipse">
            <a:avLst/>
          </a:prstGeom>
          <a:solidFill>
            <a:srgbClr val="0B2545"/>
          </a:solidFill>
          <a:ln/>
        </p:spPr>
      </p:sp>
      <p:pic>
        <p:nvPicPr>
          <p:cNvPr id="27" name="Image 4" descr="preencoded.png">    </p:cNvPr>
          <p:cNvPicPr>
            <a:picLocks noChangeAspect="1"/>
          </p:cNvPicPr>
          <p:nvPr/>
        </p:nvPicPr>
        <p:blipFill>
          <a:blip r:embed="rId5"/>
          <a:stretch>
            <a:fillRect/>
          </a:stretch>
        </p:blipFill>
        <p:spPr>
          <a:xfrm>
            <a:off x="5319065" y="3728009"/>
            <a:ext cx="261518" cy="261518"/>
          </a:xfrm>
          <a:prstGeom prst="rect">
            <a:avLst/>
          </a:prstGeom>
        </p:spPr>
      </p:pic>
      <p:sp>
        <p:nvSpPr>
          <p:cNvPr id="28" name="Text 21"/>
          <p:cNvSpPr txBox="1"/>
          <p:nvPr/>
        </p:nvSpPr>
        <p:spPr>
          <a:xfrm>
            <a:off x="6035040" y="3621024"/>
            <a:ext cx="5486400" cy="475488"/>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Ravi says: “I have no ride.”</a:t>
            </a:r>
            <a:endParaRPr lang="en-US" sz="1800" dirty="0"/>
          </a:p>
        </p:txBody>
      </p:sp>
      <p:sp>
        <p:nvSpPr>
          <p:cNvPr id="29" name="Shape 22"/>
          <p:cNvSpPr/>
          <p:nvPr/>
        </p:nvSpPr>
        <p:spPr>
          <a:xfrm>
            <a:off x="5212080" y="4233672"/>
            <a:ext cx="475488" cy="475488"/>
          </a:xfrm>
          <a:prstGeom prst="ellipse">
            <a:avLst/>
          </a:prstGeom>
          <a:solidFill>
            <a:srgbClr val="1F6FB2"/>
          </a:solidFill>
          <a:ln/>
        </p:spPr>
      </p:sp>
      <p:pic>
        <p:nvPicPr>
          <p:cNvPr id="30" name="Image 5" descr="preencoded.png">    </p:cNvPr>
          <p:cNvPicPr>
            <a:picLocks noChangeAspect="1"/>
          </p:cNvPicPr>
          <p:nvPr/>
        </p:nvPicPr>
        <p:blipFill>
          <a:blip r:embed="rId6"/>
          <a:stretch>
            <a:fillRect/>
          </a:stretch>
        </p:blipFill>
        <p:spPr>
          <a:xfrm>
            <a:off x="5319065" y="4340657"/>
            <a:ext cx="261518" cy="261518"/>
          </a:xfrm>
          <a:prstGeom prst="rect">
            <a:avLst/>
          </a:prstGeom>
        </p:spPr>
      </p:pic>
      <p:sp>
        <p:nvSpPr>
          <p:cNvPr id="31" name="Text 23"/>
          <p:cNvSpPr txBox="1"/>
          <p:nvPr/>
        </p:nvSpPr>
        <p:spPr>
          <a:xfrm>
            <a:off x="6035040" y="4233672"/>
            <a:ext cx="5486400" cy="475488"/>
          </a:xfrm>
          <a:prstGeom prst="rect">
            <a:avLst/>
          </a:prstGeom>
          <a:noFill/>
          <a:ln/>
        </p:spPr>
        <p:txBody>
          <a:bodyPr wrap="square" lIns="0" tIns="0" rIns="0" bIns="0" rtlCol="0" anchor="ctr"/>
          <a:lstStyle/>
          <a:p>
            <a:pPr indent="0" marL="0">
              <a:buNone/>
            </a:pPr>
            <a:r>
              <a:rPr lang="en-US" sz="1800" dirty="0">
                <a:solidFill>
                  <a:srgbClr val="0B2545"/>
                </a:solidFill>
                <a:latin typeface="Calibri" pitchFamily="34" charset="0"/>
                <a:ea typeface="Calibri" pitchFamily="34" charset="-122"/>
                <a:cs typeface="Calibri" pitchFamily="34" charset="-120"/>
              </a:rPr>
              <a:t>Worker helps arrange travel.</a:t>
            </a:r>
            <a:endParaRPr lang="en-US" sz="1800" dirty="0"/>
          </a:p>
        </p:txBody>
      </p:sp>
      <p:sp>
        <p:nvSpPr>
          <p:cNvPr id="32" name="Shape 24"/>
          <p:cNvSpPr/>
          <p:nvPr/>
        </p:nvSpPr>
        <p:spPr>
          <a:xfrm>
            <a:off x="5212080" y="4846320"/>
            <a:ext cx="475488" cy="475488"/>
          </a:xfrm>
          <a:prstGeom prst="ellipse">
            <a:avLst/>
          </a:prstGeom>
          <a:solidFill>
            <a:srgbClr val="2E9E6B"/>
          </a:solidFill>
          <a:ln/>
        </p:spPr>
      </p:sp>
      <p:pic>
        <p:nvPicPr>
          <p:cNvPr id="33" name="Image 6" descr="preencoded.png">    </p:cNvPr>
          <p:cNvPicPr>
            <a:picLocks noChangeAspect="1"/>
          </p:cNvPicPr>
          <p:nvPr/>
        </p:nvPicPr>
        <p:blipFill>
          <a:blip r:embed="rId7"/>
          <a:stretch>
            <a:fillRect/>
          </a:stretch>
        </p:blipFill>
        <p:spPr>
          <a:xfrm>
            <a:off x="5319065" y="4953305"/>
            <a:ext cx="261518" cy="261518"/>
          </a:xfrm>
          <a:prstGeom prst="rect">
            <a:avLst/>
          </a:prstGeom>
        </p:spPr>
      </p:pic>
      <p:sp>
        <p:nvSpPr>
          <p:cNvPr id="34" name="Text 25"/>
          <p:cNvSpPr txBox="1"/>
          <p:nvPr/>
        </p:nvSpPr>
        <p:spPr>
          <a:xfrm>
            <a:off x="6035040" y="4846320"/>
            <a:ext cx="5486400" cy="475488"/>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Hospital confirms arrival.</a:t>
            </a:r>
            <a:endParaRPr lang="en-US" sz="1800" dirty="0"/>
          </a:p>
        </p:txBody>
      </p:sp>
      <p:sp>
        <p:nvSpPr>
          <p:cNvPr id="35" name="Shape 26"/>
          <p:cNvSpPr/>
          <p:nvPr/>
        </p:nvSpPr>
        <p:spPr>
          <a:xfrm>
            <a:off x="5212080" y="5458968"/>
            <a:ext cx="475488" cy="475488"/>
          </a:xfrm>
          <a:prstGeom prst="ellipse">
            <a:avLst/>
          </a:prstGeom>
          <a:solidFill>
            <a:srgbClr val="1F6FB2"/>
          </a:solidFill>
          <a:ln/>
        </p:spPr>
      </p:sp>
      <p:pic>
        <p:nvPicPr>
          <p:cNvPr id="36" name="Image 7" descr="preencoded.png">    </p:cNvPr>
          <p:cNvPicPr>
            <a:picLocks noChangeAspect="1"/>
          </p:cNvPicPr>
          <p:nvPr/>
        </p:nvPicPr>
        <p:blipFill>
          <a:blip r:embed="rId8"/>
          <a:stretch>
            <a:fillRect/>
          </a:stretch>
        </p:blipFill>
        <p:spPr>
          <a:xfrm>
            <a:off x="5319065" y="5565953"/>
            <a:ext cx="261518" cy="261518"/>
          </a:xfrm>
          <a:prstGeom prst="rect">
            <a:avLst/>
          </a:prstGeom>
        </p:spPr>
      </p:pic>
      <p:sp>
        <p:nvSpPr>
          <p:cNvPr id="37" name="Text 27"/>
          <p:cNvSpPr txBox="1"/>
          <p:nvPr/>
        </p:nvSpPr>
        <p:spPr>
          <a:xfrm>
            <a:off x="6035040" y="5458968"/>
            <a:ext cx="5486400" cy="475488"/>
          </a:xfrm>
          <a:prstGeom prst="rect">
            <a:avLst/>
          </a:prstGeom>
          <a:noFill/>
          <a:ln/>
        </p:spPr>
        <p:txBody>
          <a:bodyPr wrap="square" lIns="0" tIns="0" rIns="0" bIns="0" rtlCol="0" anchor="ctr"/>
          <a:lstStyle/>
          <a:p>
            <a:pPr indent="0" marL="0">
              <a:buNone/>
            </a:pPr>
            <a:r>
              <a:rPr lang="en-US" sz="1800" dirty="0">
                <a:solidFill>
                  <a:srgbClr val="0B2545"/>
                </a:solidFill>
                <a:latin typeface="Calibri" pitchFamily="34" charset="0"/>
                <a:ea typeface="Calibri" pitchFamily="34" charset="-122"/>
                <a:cs typeface="Calibri" pitchFamily="34" charset="-120"/>
              </a:rPr>
              <a:t>Track the next step.</a:t>
            </a:r>
            <a:endParaRPr lang="en-US" sz="18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12648" y="384048"/>
            <a:ext cx="10972800" cy="274320"/>
          </a:xfrm>
          <a:prstGeom prst="rect">
            <a:avLst/>
          </a:prstGeom>
          <a:noFill/>
          <a:ln/>
        </p:spPr>
        <p:txBody>
          <a:bodyPr wrap="square" lIns="0" tIns="0" rIns="0" bIns="0" rtlCol="0" anchor="ctr"/>
          <a:lstStyle/>
          <a:p>
            <a:pPr indent="0" marL="0">
              <a:buNone/>
            </a:pPr>
            <a:r>
              <a:rPr lang="en-US" sz="1200" b="1" spc="200" kern="0" dirty="0">
                <a:solidFill>
                  <a:srgbClr val="1F6FB2"/>
                </a:solidFill>
                <a:latin typeface="Calibri" pitchFamily="34" charset="0"/>
                <a:ea typeface="Calibri" pitchFamily="34" charset="-122"/>
                <a:cs typeface="Calibri" pitchFamily="34" charset="-120"/>
              </a:rPr>
              <a:t>06 — CAREBRIDGE · PROTOTYPE</a:t>
            </a:r>
            <a:endParaRPr lang="en-US" sz="1200" dirty="0"/>
          </a:p>
        </p:txBody>
      </p:sp>
      <p:sp>
        <p:nvSpPr>
          <p:cNvPr id="3" name="Text 1"/>
          <p:cNvSpPr txBox="1"/>
          <p:nvPr/>
        </p:nvSpPr>
        <p:spPr>
          <a:xfrm>
            <a:off x="612648" y="685800"/>
            <a:ext cx="10972800" cy="731520"/>
          </a:xfrm>
          <a:prstGeom prst="rect">
            <a:avLst/>
          </a:prstGeom>
          <a:noFill/>
          <a:ln/>
        </p:spPr>
        <p:txBody>
          <a:bodyPr wrap="square" lIns="0" tIns="0" rIns="0" bIns="0" rtlCol="0" anchor="ctr"/>
          <a:lstStyle/>
          <a:p>
            <a:pPr indent="0" marL="0">
              <a:buNone/>
            </a:pPr>
            <a:r>
              <a:rPr lang="en-US" sz="3600" b="1" dirty="0">
                <a:solidFill>
                  <a:srgbClr val="0B2545"/>
                </a:solidFill>
                <a:latin typeface="Calibri" pitchFamily="34" charset="0"/>
                <a:ea typeface="Calibri" pitchFamily="34" charset="-122"/>
                <a:cs typeface="Calibri" pitchFamily="34" charset="-120"/>
              </a:rPr>
              <a:t>Checked. Helped. Confirmed.</a:t>
            </a:r>
            <a:endParaRPr lang="en-US" sz="3600" dirty="0"/>
          </a:p>
        </p:txBody>
      </p:sp>
      <p:sp>
        <p:nvSpPr>
          <p:cNvPr id="4" name="Shape 2"/>
          <p:cNvSpPr/>
          <p:nvPr/>
        </p:nvSpPr>
        <p:spPr>
          <a:xfrm>
            <a:off x="822960" y="1600200"/>
            <a:ext cx="3108960" cy="4617720"/>
          </a:xfrm>
          <a:prstGeom prst="roundRect">
            <a:avLst>
              <a:gd name="adj" fmla="val 8824"/>
            </a:avLst>
          </a:prstGeom>
          <a:solidFill>
            <a:srgbClr val="0B2545"/>
          </a:solidFill>
          <a:ln/>
        </p:spPr>
      </p:sp>
      <p:sp>
        <p:nvSpPr>
          <p:cNvPr id="5" name="Shape 3"/>
          <p:cNvSpPr/>
          <p:nvPr/>
        </p:nvSpPr>
        <p:spPr>
          <a:xfrm>
            <a:off x="960120" y="1737360"/>
            <a:ext cx="2834640" cy="4343400"/>
          </a:xfrm>
          <a:prstGeom prst="roundRect">
            <a:avLst>
              <a:gd name="adj" fmla="val 6452"/>
            </a:avLst>
          </a:prstGeom>
          <a:solidFill>
            <a:srgbClr val="F4F7FB"/>
          </a:solidFill>
          <a:ln/>
        </p:spPr>
      </p:sp>
      <p:sp>
        <p:nvSpPr>
          <p:cNvPr id="6" name="Text 4"/>
          <p:cNvSpPr txBox="1"/>
          <p:nvPr/>
        </p:nvSpPr>
        <p:spPr>
          <a:xfrm>
            <a:off x="1143000" y="1828800"/>
            <a:ext cx="2468880" cy="292608"/>
          </a:xfrm>
          <a:prstGeom prst="rect">
            <a:avLst/>
          </a:prstGeom>
          <a:noFill/>
          <a:ln/>
        </p:spPr>
        <p:txBody>
          <a:bodyPr wrap="square" lIns="0" tIns="0" rIns="0" bIns="0" rtlCol="0" anchor="ctr"/>
          <a:lstStyle/>
          <a:p>
            <a:pPr indent="0" marL="0">
              <a:buNone/>
            </a:pPr>
            <a:r>
              <a:rPr lang="en-US" sz="1100" b="1" dirty="0">
                <a:solidFill>
                  <a:srgbClr val="1F6FB2"/>
                </a:solidFill>
                <a:latin typeface="Calibri" pitchFamily="34" charset="0"/>
                <a:ea typeface="Calibri" pitchFamily="34" charset="-122"/>
                <a:cs typeface="Calibri" pitchFamily="34" charset="-120"/>
              </a:rPr>
              <a:t>CareBridge · Worker</a:t>
            </a:r>
            <a:endParaRPr lang="en-US" sz="1100" dirty="0"/>
          </a:p>
        </p:txBody>
      </p:sp>
      <p:sp>
        <p:nvSpPr>
          <p:cNvPr id="7" name="Shape 5"/>
          <p:cNvSpPr/>
          <p:nvPr/>
        </p:nvSpPr>
        <p:spPr>
          <a:xfrm>
            <a:off x="1097280" y="2176272"/>
            <a:ext cx="2560320" cy="777240"/>
          </a:xfrm>
          <a:prstGeom prst="roundRect">
            <a:avLst>
              <a:gd name="adj" fmla="val 9412"/>
            </a:avLst>
          </a:prstGeom>
          <a:solidFill>
            <a:srgbClr val="FFFFFF"/>
          </a:solidFill>
          <a:ln/>
        </p:spPr>
      </p:sp>
      <p:sp>
        <p:nvSpPr>
          <p:cNvPr id="8" name="Text 6"/>
          <p:cNvSpPr txBox="1"/>
          <p:nvPr/>
        </p:nvSpPr>
        <p:spPr>
          <a:xfrm>
            <a:off x="1234440" y="2212848"/>
            <a:ext cx="1371600" cy="347472"/>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Ravi</a:t>
            </a:r>
            <a:endParaRPr lang="en-US" sz="1500" dirty="0"/>
          </a:p>
        </p:txBody>
      </p:sp>
      <p:sp>
        <p:nvSpPr>
          <p:cNvPr id="9" name="Shape 7"/>
          <p:cNvSpPr/>
          <p:nvPr/>
        </p:nvSpPr>
        <p:spPr>
          <a:xfrm>
            <a:off x="2697480" y="2258568"/>
            <a:ext cx="841248" cy="256032"/>
          </a:xfrm>
          <a:prstGeom prst="roundRect">
            <a:avLst>
              <a:gd name="adj" fmla="val 50000"/>
            </a:avLst>
          </a:prstGeom>
          <a:solidFill>
            <a:srgbClr val="E6F4EC"/>
          </a:solidFill>
          <a:ln/>
        </p:spPr>
      </p:sp>
      <p:sp>
        <p:nvSpPr>
          <p:cNvPr id="10" name="Text 8"/>
          <p:cNvSpPr txBox="1"/>
          <p:nvPr/>
        </p:nvSpPr>
        <p:spPr>
          <a:xfrm>
            <a:off x="2697480" y="2258568"/>
            <a:ext cx="841248" cy="256032"/>
          </a:xfrm>
          <a:prstGeom prst="rect">
            <a:avLst/>
          </a:prstGeom>
          <a:noFill/>
          <a:ln/>
        </p:spPr>
        <p:txBody>
          <a:bodyPr wrap="square" lIns="0" tIns="0" rIns="0" bIns="0" rtlCol="0" anchor="ctr"/>
          <a:lstStyle/>
          <a:p>
            <a:pPr algn="ctr" indent="0" marL="0">
              <a:buNone/>
            </a:pPr>
            <a:r>
              <a:rPr lang="en-US" sz="1000" b="1" dirty="0">
                <a:solidFill>
                  <a:srgbClr val="2E9E6B"/>
                </a:solidFill>
                <a:latin typeface="Calibri" pitchFamily="34" charset="0"/>
                <a:ea typeface="Calibri" pitchFamily="34" charset="-122"/>
                <a:cs typeface="Calibri" pitchFamily="34" charset="-120"/>
              </a:rPr>
              <a:t>✓ Checked</a:t>
            </a:r>
            <a:endParaRPr lang="en-US" sz="1000" dirty="0"/>
          </a:p>
        </p:txBody>
      </p:sp>
      <p:sp>
        <p:nvSpPr>
          <p:cNvPr id="11" name="Text 9"/>
          <p:cNvSpPr txBox="1"/>
          <p:nvPr/>
        </p:nvSpPr>
        <p:spPr>
          <a:xfrm>
            <a:off x="1234440" y="2578608"/>
            <a:ext cx="2377440" cy="29260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Cardiology referral · Referral recorded</a:t>
            </a:r>
            <a:endParaRPr lang="en-US" sz="1050" dirty="0"/>
          </a:p>
        </p:txBody>
      </p:sp>
      <p:sp>
        <p:nvSpPr>
          <p:cNvPr id="12" name="Text 10"/>
          <p:cNvSpPr txBox="1"/>
          <p:nvPr/>
        </p:nvSpPr>
        <p:spPr>
          <a:xfrm>
            <a:off x="1143000" y="3017520"/>
            <a:ext cx="2468880" cy="274320"/>
          </a:xfrm>
          <a:prstGeom prst="rect">
            <a:avLst/>
          </a:prstGeom>
          <a:noFill/>
          <a:ln/>
        </p:spPr>
        <p:txBody>
          <a:bodyPr wrap="square" lIns="0" tIns="0" rIns="0" bIns="0" rtlCol="0" anchor="ctr"/>
          <a:lstStyle/>
          <a:p>
            <a:pPr indent="0" marL="0">
              <a:buNone/>
            </a:pPr>
            <a:r>
              <a:rPr lang="en-US" sz="1050" b="1" dirty="0">
                <a:solidFill>
                  <a:srgbClr val="64748B"/>
                </a:solidFill>
                <a:latin typeface="Calibri" pitchFamily="34" charset="0"/>
                <a:ea typeface="Calibri" pitchFamily="34" charset="-122"/>
                <a:cs typeface="Calibri" pitchFamily="34" charset="-120"/>
              </a:rPr>
              <a:t>Arrival unconfirmed</a:t>
            </a:r>
            <a:endParaRPr lang="en-US" sz="1050" dirty="0"/>
          </a:p>
        </p:txBody>
      </p:sp>
      <p:sp>
        <p:nvSpPr>
          <p:cNvPr id="13" name="Shape 11"/>
          <p:cNvSpPr/>
          <p:nvPr/>
        </p:nvSpPr>
        <p:spPr>
          <a:xfrm>
            <a:off x="1097280" y="3337560"/>
            <a:ext cx="2560320" cy="502920"/>
          </a:xfrm>
          <a:prstGeom prst="roundRect">
            <a:avLst>
              <a:gd name="adj" fmla="val 14545"/>
            </a:avLst>
          </a:prstGeom>
          <a:solidFill>
            <a:srgbClr val="E8F1FA"/>
          </a:solidFill>
          <a:ln/>
        </p:spPr>
      </p:sp>
      <p:sp>
        <p:nvSpPr>
          <p:cNvPr id="14" name="Text 12"/>
          <p:cNvSpPr txBox="1"/>
          <p:nvPr/>
        </p:nvSpPr>
        <p:spPr>
          <a:xfrm>
            <a:off x="1234440" y="3337560"/>
            <a:ext cx="2286000" cy="502920"/>
          </a:xfrm>
          <a:prstGeom prst="rect">
            <a:avLst/>
          </a:prstGeom>
          <a:noFill/>
          <a:ln/>
        </p:spPr>
        <p:txBody>
          <a:bodyPr wrap="square" lIns="0" tIns="0" rIns="0" bIns="0" rtlCol="0" anchor="ctr"/>
          <a:lstStyle/>
          <a:p>
            <a:pPr indent="0" marL="0">
              <a:buNone/>
            </a:pPr>
            <a:r>
              <a:rPr lang="en-US" sz="1400" b="1" i="1" dirty="0">
                <a:solidFill>
                  <a:srgbClr val="0B2545"/>
                </a:solidFill>
                <a:latin typeface="Calibri" pitchFamily="34" charset="0"/>
                <a:ea typeface="Calibri" pitchFamily="34" charset="-122"/>
                <a:cs typeface="Calibri" pitchFamily="34" charset="-120"/>
              </a:rPr>
              <a:t>“I have no ride.”</a:t>
            </a:r>
            <a:endParaRPr lang="en-US" sz="1400" dirty="0"/>
          </a:p>
        </p:txBody>
      </p:sp>
      <p:sp>
        <p:nvSpPr>
          <p:cNvPr id="15" name="Shape 13"/>
          <p:cNvSpPr/>
          <p:nvPr/>
        </p:nvSpPr>
        <p:spPr>
          <a:xfrm>
            <a:off x="1097280" y="3950208"/>
            <a:ext cx="2560320" cy="502920"/>
          </a:xfrm>
          <a:prstGeom prst="roundRect">
            <a:avLst>
              <a:gd name="adj" fmla="val 14545"/>
            </a:avLst>
          </a:prstGeom>
          <a:solidFill>
            <a:srgbClr val="FFFFFF"/>
          </a:solidFill>
          <a:ln/>
        </p:spPr>
      </p:sp>
      <p:sp>
        <p:nvSpPr>
          <p:cNvPr id="16" name="Text 14"/>
          <p:cNvSpPr txBox="1"/>
          <p:nvPr/>
        </p:nvSpPr>
        <p:spPr>
          <a:xfrm>
            <a:off x="1234440" y="3950208"/>
            <a:ext cx="2377440" cy="5029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Worker helps arrange travel</a:t>
            </a:r>
            <a:endParaRPr lang="en-US" sz="1200" dirty="0"/>
          </a:p>
        </p:txBody>
      </p:sp>
      <p:sp>
        <p:nvSpPr>
          <p:cNvPr id="17" name="Shape 15"/>
          <p:cNvSpPr/>
          <p:nvPr/>
        </p:nvSpPr>
        <p:spPr>
          <a:xfrm>
            <a:off x="1097280" y="4562856"/>
            <a:ext cx="2560320" cy="502920"/>
          </a:xfrm>
          <a:prstGeom prst="roundRect">
            <a:avLst>
              <a:gd name="adj" fmla="val 14545"/>
            </a:avLst>
          </a:prstGeom>
          <a:solidFill>
            <a:srgbClr val="FFFFFF"/>
          </a:solidFill>
          <a:ln/>
        </p:spPr>
      </p:sp>
      <p:sp>
        <p:nvSpPr>
          <p:cNvPr id="18" name="Text 16"/>
          <p:cNvSpPr txBox="1"/>
          <p:nvPr/>
        </p:nvSpPr>
        <p:spPr>
          <a:xfrm>
            <a:off x="1234440" y="4562856"/>
            <a:ext cx="2377440" cy="502920"/>
          </a:xfrm>
          <a:prstGeom prst="rect">
            <a:avLst/>
          </a:prstGeom>
          <a:noFill/>
          <a:ln/>
        </p:spPr>
        <p:txBody>
          <a:bodyPr wrap="square" lIns="0" tIns="0" rIns="0" bIns="0" rtlCol="0" anchor="ctr"/>
          <a:lstStyle/>
          <a:p>
            <a:pPr indent="0" marL="0">
              <a:buNone/>
            </a:pPr>
            <a:r>
              <a:rPr lang="en-US" sz="1300" b="1" dirty="0">
                <a:solidFill>
                  <a:srgbClr val="2E9E6B"/>
                </a:solidFill>
                <a:latin typeface="Calibri" pitchFamily="34" charset="0"/>
                <a:ea typeface="Calibri" pitchFamily="34" charset="-122"/>
                <a:cs typeface="Calibri" pitchFamily="34" charset="-120"/>
              </a:rPr>
              <a:t>Arrival confirmed ✓</a:t>
            </a:r>
            <a:endParaRPr lang="en-US" sz="1300" dirty="0"/>
          </a:p>
        </p:txBody>
      </p:sp>
      <p:sp>
        <p:nvSpPr>
          <p:cNvPr id="19" name="Shape 17"/>
          <p:cNvSpPr/>
          <p:nvPr/>
        </p:nvSpPr>
        <p:spPr>
          <a:xfrm>
            <a:off x="1097280" y="5303520"/>
            <a:ext cx="2560320" cy="457200"/>
          </a:xfrm>
          <a:prstGeom prst="roundRect">
            <a:avLst>
              <a:gd name="adj" fmla="val 50000"/>
            </a:avLst>
          </a:prstGeom>
          <a:solidFill>
            <a:srgbClr val="1F6FB2"/>
          </a:solidFill>
          <a:ln/>
        </p:spPr>
      </p:sp>
      <p:sp>
        <p:nvSpPr>
          <p:cNvPr id="20" name="Text 18"/>
          <p:cNvSpPr txBox="1"/>
          <p:nvPr/>
        </p:nvSpPr>
        <p:spPr>
          <a:xfrm>
            <a:off x="1097280" y="5303520"/>
            <a:ext cx="25603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Track next step</a:t>
            </a:r>
            <a:endParaRPr lang="en-US" sz="1300" dirty="0"/>
          </a:p>
        </p:txBody>
      </p:sp>
      <p:pic>
        <p:nvPicPr>
          <p:cNvPr id="21" name="Image 0" descr="preencoded.png">    </p:cNvPr>
          <p:cNvPicPr>
            <a:picLocks noChangeAspect="1"/>
          </p:cNvPicPr>
          <p:nvPr/>
        </p:nvPicPr>
        <p:blipFill>
          <a:blip r:embed="rId1"/>
          <a:stretch>
            <a:fillRect/>
          </a:stretch>
        </p:blipFill>
        <p:spPr>
          <a:xfrm>
            <a:off x="4160520" y="3520440"/>
            <a:ext cx="548640" cy="548640"/>
          </a:xfrm>
          <a:prstGeom prst="rect">
            <a:avLst/>
          </a:prstGeom>
        </p:spPr>
      </p:pic>
      <p:sp>
        <p:nvSpPr>
          <p:cNvPr id="22" name="Shape 19"/>
          <p:cNvSpPr/>
          <p:nvPr/>
        </p:nvSpPr>
        <p:spPr>
          <a:xfrm>
            <a:off x="4937760" y="1737360"/>
            <a:ext cx="3931920" cy="2788920"/>
          </a:xfrm>
          <a:prstGeom prst="roundRect">
            <a:avLst>
              <a:gd name="adj" fmla="val 3934"/>
            </a:avLst>
          </a:prstGeom>
          <a:solidFill>
            <a:srgbClr val="0B2545"/>
          </a:solidFill>
          <a:ln/>
        </p:spPr>
      </p:sp>
      <p:sp>
        <p:nvSpPr>
          <p:cNvPr id="23" name="Shape 20"/>
          <p:cNvSpPr/>
          <p:nvPr/>
        </p:nvSpPr>
        <p:spPr>
          <a:xfrm>
            <a:off x="5047488" y="1847088"/>
            <a:ext cx="3712464" cy="2569464"/>
          </a:xfrm>
          <a:prstGeom prst="roundRect">
            <a:avLst>
              <a:gd name="adj" fmla="val 2135"/>
            </a:avLst>
          </a:prstGeom>
          <a:solidFill>
            <a:srgbClr val="FFFFFF"/>
          </a:solidFill>
          <a:ln/>
        </p:spPr>
      </p:sp>
      <p:sp>
        <p:nvSpPr>
          <p:cNvPr id="24" name="Text 21"/>
          <p:cNvSpPr txBox="1"/>
          <p:nvPr/>
        </p:nvSpPr>
        <p:spPr>
          <a:xfrm>
            <a:off x="5257800" y="1965960"/>
            <a:ext cx="3291840" cy="320040"/>
          </a:xfrm>
          <a:prstGeom prst="rect">
            <a:avLst/>
          </a:prstGeom>
          <a:noFill/>
          <a:ln/>
        </p:spPr>
        <p:txBody>
          <a:bodyPr wrap="square" lIns="0" tIns="0" rIns="0" bIns="0" rtlCol="0" anchor="ctr"/>
          <a:lstStyle/>
          <a:p>
            <a:pPr indent="0" marL="0">
              <a:buNone/>
            </a:pPr>
            <a:r>
              <a:rPr lang="en-US" sz="1200" b="1" dirty="0">
                <a:solidFill>
                  <a:srgbClr val="1F6FB2"/>
                </a:solidFill>
                <a:latin typeface="Calibri" pitchFamily="34" charset="0"/>
                <a:ea typeface="Calibri" pitchFamily="34" charset="-122"/>
                <a:cs typeface="Calibri" pitchFamily="34" charset="-120"/>
              </a:rPr>
              <a:t>Facility screen</a:t>
            </a:r>
            <a:endParaRPr lang="en-US" sz="1200" dirty="0"/>
          </a:p>
        </p:txBody>
      </p:sp>
      <p:sp>
        <p:nvSpPr>
          <p:cNvPr id="25" name="Text 22"/>
          <p:cNvSpPr txBox="1"/>
          <p:nvPr/>
        </p:nvSpPr>
        <p:spPr>
          <a:xfrm>
            <a:off x="5257800" y="2377440"/>
            <a:ext cx="3383280" cy="4114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Cardiology referral · Ravi</a:t>
            </a:r>
            <a:endParaRPr lang="en-US" sz="1800" dirty="0"/>
          </a:p>
        </p:txBody>
      </p:sp>
      <p:sp>
        <p:nvSpPr>
          <p:cNvPr id="26" name="Shape 23"/>
          <p:cNvSpPr/>
          <p:nvPr/>
        </p:nvSpPr>
        <p:spPr>
          <a:xfrm>
            <a:off x="5257800" y="3017520"/>
            <a:ext cx="777240" cy="777240"/>
          </a:xfrm>
          <a:prstGeom prst="ellipse">
            <a:avLst/>
          </a:prstGeom>
          <a:solidFill>
            <a:srgbClr val="2E9E6B"/>
          </a:solidFill>
          <a:ln/>
        </p:spPr>
      </p:sp>
      <p:pic>
        <p:nvPicPr>
          <p:cNvPr id="27" name="Image 1" descr="preencoded.png">    </p:cNvPr>
          <p:cNvPicPr>
            <a:picLocks noChangeAspect="1"/>
          </p:cNvPicPr>
          <p:nvPr/>
        </p:nvPicPr>
        <p:blipFill>
          <a:blip r:embed="rId2"/>
          <a:stretch>
            <a:fillRect/>
          </a:stretch>
        </p:blipFill>
        <p:spPr>
          <a:xfrm>
            <a:off x="5413248" y="3172968"/>
            <a:ext cx="466344" cy="466344"/>
          </a:xfrm>
          <a:prstGeom prst="rect">
            <a:avLst/>
          </a:prstGeom>
        </p:spPr>
      </p:pic>
      <p:sp>
        <p:nvSpPr>
          <p:cNvPr id="28" name="Text 24"/>
          <p:cNvSpPr txBox="1"/>
          <p:nvPr/>
        </p:nvSpPr>
        <p:spPr>
          <a:xfrm>
            <a:off x="6217920" y="3017520"/>
            <a:ext cx="2468880" cy="411480"/>
          </a:xfrm>
          <a:prstGeom prst="rect">
            <a:avLst/>
          </a:prstGeom>
          <a:noFill/>
          <a:ln/>
        </p:spPr>
        <p:txBody>
          <a:bodyPr wrap="square" lIns="0" tIns="0" rIns="0" bIns="0" rtlCol="0" anchor="ctr"/>
          <a:lstStyle/>
          <a:p>
            <a:pPr indent="0" marL="0">
              <a:buNone/>
            </a:pPr>
            <a:r>
              <a:rPr lang="en-US" sz="1800" b="1" dirty="0">
                <a:solidFill>
                  <a:srgbClr val="2E9E6B"/>
                </a:solidFill>
                <a:latin typeface="Calibri" pitchFamily="34" charset="0"/>
                <a:ea typeface="Calibri" pitchFamily="34" charset="-122"/>
                <a:cs typeface="Calibri" pitchFamily="34" charset="-120"/>
              </a:rPr>
              <a:t>Hospital confirmed</a:t>
            </a:r>
            <a:endParaRPr lang="en-US" sz="1800" dirty="0"/>
          </a:p>
        </p:txBody>
      </p:sp>
      <p:sp>
        <p:nvSpPr>
          <p:cNvPr id="29" name="Text 25"/>
          <p:cNvSpPr txBox="1"/>
          <p:nvPr/>
        </p:nvSpPr>
        <p:spPr>
          <a:xfrm>
            <a:off x="6217920" y="3410712"/>
            <a:ext cx="2468880" cy="36576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Arrival confirmed</a:t>
            </a:r>
            <a:endParaRPr lang="en-US" sz="1400" dirty="0"/>
          </a:p>
        </p:txBody>
      </p:sp>
      <p:sp>
        <p:nvSpPr>
          <p:cNvPr id="30" name="Shape 26"/>
          <p:cNvSpPr/>
          <p:nvPr/>
        </p:nvSpPr>
        <p:spPr>
          <a:xfrm>
            <a:off x="6583680" y="4526280"/>
            <a:ext cx="822960" cy="228600"/>
          </a:xfrm>
          <a:prstGeom prst="rect">
            <a:avLst/>
          </a:prstGeom>
          <a:solidFill>
            <a:srgbClr val="0B2545"/>
          </a:solidFill>
          <a:ln/>
        </p:spPr>
      </p:sp>
      <p:sp>
        <p:nvSpPr>
          <p:cNvPr id="31" name="Shape 27"/>
          <p:cNvSpPr/>
          <p:nvPr/>
        </p:nvSpPr>
        <p:spPr>
          <a:xfrm>
            <a:off x="6172200" y="4754880"/>
            <a:ext cx="1645920" cy="109728"/>
          </a:xfrm>
          <a:prstGeom prst="roundRect">
            <a:avLst>
              <a:gd name="adj" fmla="val 41667"/>
            </a:avLst>
          </a:prstGeom>
          <a:solidFill>
            <a:srgbClr val="0B2545"/>
          </a:solidFill>
          <a:ln/>
        </p:spPr>
      </p:sp>
      <p:sp>
        <p:nvSpPr>
          <p:cNvPr id="32" name="Shape 28"/>
          <p:cNvSpPr/>
          <p:nvPr/>
        </p:nvSpPr>
        <p:spPr>
          <a:xfrm>
            <a:off x="4937760" y="5212080"/>
            <a:ext cx="3931920" cy="868680"/>
          </a:xfrm>
          <a:prstGeom prst="roundRect">
            <a:avLst>
              <a:gd name="adj" fmla="val 12632"/>
            </a:avLst>
          </a:prstGeom>
          <a:solidFill>
            <a:srgbClr val="F4F7FB"/>
          </a:solidFill>
          <a:ln/>
        </p:spPr>
      </p:sp>
      <p:sp>
        <p:nvSpPr>
          <p:cNvPr id="33" name="Shape 29"/>
          <p:cNvSpPr/>
          <p:nvPr/>
        </p:nvSpPr>
        <p:spPr>
          <a:xfrm>
            <a:off x="5120640" y="5385816"/>
            <a:ext cx="512064" cy="512064"/>
          </a:xfrm>
          <a:prstGeom prst="ellipse">
            <a:avLst/>
          </a:prstGeom>
          <a:solidFill>
            <a:srgbClr val="1F6FB2"/>
          </a:solidFill>
          <a:ln/>
        </p:spPr>
      </p:sp>
      <p:pic>
        <p:nvPicPr>
          <p:cNvPr id="34" name="Image 2" descr="preencoded.png">    </p:cNvPr>
          <p:cNvPicPr>
            <a:picLocks noChangeAspect="1"/>
          </p:cNvPicPr>
          <p:nvPr/>
        </p:nvPicPr>
        <p:blipFill>
          <a:blip r:embed="rId3"/>
          <a:stretch>
            <a:fillRect/>
          </a:stretch>
        </p:blipFill>
        <p:spPr>
          <a:xfrm>
            <a:off x="5235854" y="5501030"/>
            <a:ext cx="281635" cy="281635"/>
          </a:xfrm>
          <a:prstGeom prst="rect">
            <a:avLst/>
          </a:prstGeom>
        </p:spPr>
      </p:pic>
      <p:sp>
        <p:nvSpPr>
          <p:cNvPr id="35" name="Text 30"/>
          <p:cNvSpPr txBox="1"/>
          <p:nvPr/>
        </p:nvSpPr>
        <p:spPr>
          <a:xfrm>
            <a:off x="5806440" y="5212080"/>
            <a:ext cx="2971800" cy="86868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Hospital confirmed. Track next step.</a:t>
            </a:r>
            <a:endParaRPr lang="en-US" sz="1600" dirty="0"/>
          </a:p>
        </p:txBody>
      </p:sp>
      <p:sp>
        <p:nvSpPr>
          <p:cNvPr id="36" name="Shape 31"/>
          <p:cNvSpPr/>
          <p:nvPr/>
        </p:nvSpPr>
        <p:spPr>
          <a:xfrm>
            <a:off x="9235440" y="1737360"/>
            <a:ext cx="2350008" cy="4343400"/>
          </a:xfrm>
          <a:prstGeom prst="roundRect">
            <a:avLst>
              <a:gd name="adj" fmla="val 4669"/>
            </a:avLst>
          </a:prstGeom>
          <a:solidFill>
            <a:srgbClr val="FFFFFF"/>
          </a:solidFill>
          <a:ln w="12700">
            <a:solidFill>
              <a:srgbClr val="D5DEE8"/>
            </a:solidFill>
            <a:prstDash val="solid"/>
          </a:ln>
        </p:spPr>
      </p:sp>
      <p:sp>
        <p:nvSpPr>
          <p:cNvPr id="37" name="Shape 32"/>
          <p:cNvSpPr/>
          <p:nvPr/>
        </p:nvSpPr>
        <p:spPr>
          <a:xfrm>
            <a:off x="9464040" y="1965960"/>
            <a:ext cx="548640" cy="548640"/>
          </a:xfrm>
          <a:prstGeom prst="ellipse">
            <a:avLst/>
          </a:prstGeom>
          <a:solidFill>
            <a:srgbClr val="E8F1FA"/>
          </a:solidFill>
          <a:ln/>
        </p:spPr>
      </p:sp>
      <p:pic>
        <p:nvPicPr>
          <p:cNvPr id="38" name="Image 3" descr="preencoded.png">    </p:cNvPr>
          <p:cNvPicPr>
            <a:picLocks noChangeAspect="1"/>
          </p:cNvPicPr>
          <p:nvPr/>
        </p:nvPicPr>
        <p:blipFill>
          <a:blip r:embed="rId4"/>
          <a:stretch>
            <a:fillRect/>
          </a:stretch>
        </p:blipFill>
        <p:spPr>
          <a:xfrm>
            <a:off x="9573768" y="2075688"/>
            <a:ext cx="329184" cy="329184"/>
          </a:xfrm>
          <a:prstGeom prst="rect">
            <a:avLst/>
          </a:prstGeom>
        </p:spPr>
      </p:pic>
      <p:sp>
        <p:nvSpPr>
          <p:cNvPr id="39" name="Text 33"/>
          <p:cNvSpPr txBox="1"/>
          <p:nvPr/>
        </p:nvSpPr>
        <p:spPr>
          <a:xfrm>
            <a:off x="9464040" y="2651760"/>
            <a:ext cx="192024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Please note</a:t>
            </a:r>
            <a:endParaRPr lang="en-US" sz="1600" dirty="0"/>
          </a:p>
        </p:txBody>
      </p:sp>
      <p:sp>
        <p:nvSpPr>
          <p:cNvPr id="40" name="Text 34"/>
          <p:cNvSpPr txBox="1"/>
          <p:nvPr/>
        </p:nvSpPr>
        <p:spPr>
          <a:xfrm>
            <a:off x="9464040" y="3063240"/>
            <a:ext cx="1920240" cy="2834640"/>
          </a:xfrm>
          <a:prstGeom prst="rect">
            <a:avLst/>
          </a:prstGeom>
          <a:noFill/>
          <a:ln/>
        </p:spPr>
        <p:txBody>
          <a:bodyPr wrap="square" lIns="0" tIns="0" rIns="0" bIns="0" rtlCol="0" anchor="t"/>
          <a:lstStyle/>
          <a:p>
            <a:pPr indent="0" marL="0">
              <a:buNone/>
            </a:pPr>
            <a:r>
              <a:rPr lang="en-US" sz="1400" b="1" dirty="0">
                <a:solidFill>
                  <a:srgbClr val="334155"/>
                </a:solidFill>
                <a:latin typeface="Calibri" pitchFamily="34" charset="0"/>
                <a:ea typeface="Calibri" pitchFamily="34" charset="-122"/>
                <a:cs typeface="Calibri" pitchFamily="34" charset="-120"/>
              </a:rPr>
              <a:t>Prototype interface.</a:t>
            </a:r>
            <a:endParaRPr lang="en-US" sz="1400" dirty="0"/>
          </a:p>
          <a:p>
            <a:pPr indent="0" marL="0">
              <a:buNone/>
            </a:pPr>
            <a:r>
              <a:rPr lang="en-US" sz="1400" dirty="0">
                <a:solidFill>
                  <a:srgbClr val="334155"/>
                </a:solidFill>
                <a:latin typeface="Calibri" pitchFamily="34" charset="0"/>
                <a:ea typeface="Calibri" pitchFamily="34" charset="-122"/>
                <a:cs typeface="Calibri" pitchFamily="34" charset="-120"/>
              </a:rPr>
              <a:t>Synthetic illustrative case — not evidence of a deployed product.</a:t>
            </a:r>
            <a:endParaRPr lang="en-US" sz="1400" dirty="0"/>
          </a:p>
          <a:p>
            <a:pPr indent="0" marL="0">
              <a:buNone/>
            </a:pPr>
            <a:r>
              <a:rPr lang="en-US" sz="1400" dirty="0">
                <a:solidFill>
                  <a:srgbClr val="334155"/>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334155"/>
                </a:solidFill>
                <a:latin typeface="Calibri" pitchFamily="34" charset="0"/>
                <a:ea typeface="Calibri" pitchFamily="34" charset="-122"/>
                <a:cs typeface="Calibri" pitchFamily="34" charset="-120"/>
              </a:rPr>
              <a:t>Unconfirmed arrival alone does not prove nonattendance.</a:t>
            </a:r>
            <a:endParaRPr lang="en-US" sz="14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12648" y="384048"/>
            <a:ext cx="10972800" cy="274320"/>
          </a:xfrm>
          <a:prstGeom prst="rect">
            <a:avLst/>
          </a:prstGeom>
          <a:noFill/>
          <a:ln/>
        </p:spPr>
        <p:txBody>
          <a:bodyPr wrap="square" lIns="0" tIns="0" rIns="0" bIns="0" rtlCol="0" anchor="ctr"/>
          <a:lstStyle/>
          <a:p>
            <a:pPr indent="0" marL="0">
              <a:buNone/>
            </a:pPr>
            <a:r>
              <a:rPr lang="en-US" sz="1200" b="1" spc="200" kern="0" dirty="0">
                <a:solidFill>
                  <a:srgbClr val="1F6FB2"/>
                </a:solidFill>
                <a:latin typeface="Calibri" pitchFamily="34" charset="0"/>
                <a:ea typeface="Calibri" pitchFamily="34" charset="-122"/>
                <a:cs typeface="Calibri" pitchFamily="34" charset="-120"/>
              </a:rPr>
              <a:t>07 — WHY USE AI?</a:t>
            </a:r>
            <a:endParaRPr lang="en-US" sz="1200" dirty="0"/>
          </a:p>
        </p:txBody>
      </p:sp>
      <p:sp>
        <p:nvSpPr>
          <p:cNvPr id="3" name="Text 1"/>
          <p:cNvSpPr txBox="1"/>
          <p:nvPr/>
        </p:nvSpPr>
        <p:spPr>
          <a:xfrm>
            <a:off x="612648" y="685800"/>
            <a:ext cx="10972800" cy="731520"/>
          </a:xfrm>
          <a:prstGeom prst="rect">
            <a:avLst/>
          </a:prstGeom>
          <a:noFill/>
          <a:ln/>
        </p:spPr>
        <p:txBody>
          <a:bodyPr wrap="square" lIns="0" tIns="0" rIns="0" bIns="0" rtlCol="0" anchor="ctr"/>
          <a:lstStyle/>
          <a:p>
            <a:pPr indent="0" marL="0">
              <a:buNone/>
            </a:pPr>
            <a:r>
              <a:rPr lang="en-US" sz="3600" b="1" dirty="0">
                <a:solidFill>
                  <a:srgbClr val="0B2545"/>
                </a:solidFill>
                <a:latin typeface="Calibri" pitchFamily="34" charset="0"/>
                <a:ea typeface="Calibri" pitchFamily="34" charset="-122"/>
                <a:cs typeface="Calibri" pitchFamily="34" charset="-120"/>
              </a:rPr>
              <a:t>AI reads and listens. People decide.</a:t>
            </a:r>
            <a:endParaRPr lang="en-US" sz="3600" dirty="0"/>
          </a:p>
        </p:txBody>
      </p:sp>
      <p:sp>
        <p:nvSpPr>
          <p:cNvPr id="4" name="Text 2"/>
          <p:cNvSpPr txBox="1"/>
          <p:nvPr/>
        </p:nvSpPr>
        <p:spPr>
          <a:xfrm>
            <a:off x="612648" y="1371600"/>
            <a:ext cx="10972800" cy="320040"/>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No AI diagnosis or prescribing. The doctor decides care.</a:t>
            </a:r>
            <a:endParaRPr lang="en-US" sz="1500" dirty="0"/>
          </a:p>
        </p:txBody>
      </p:sp>
      <p:sp>
        <p:nvSpPr>
          <p:cNvPr id="5" name="Shape 3"/>
          <p:cNvSpPr/>
          <p:nvPr/>
        </p:nvSpPr>
        <p:spPr>
          <a:xfrm>
            <a:off x="612648" y="1874520"/>
            <a:ext cx="6949440" cy="1115568"/>
          </a:xfrm>
          <a:prstGeom prst="roundRect">
            <a:avLst>
              <a:gd name="adj" fmla="val 9836"/>
            </a:avLst>
          </a:prstGeom>
          <a:solidFill>
            <a:srgbClr val="F4F7FB"/>
          </a:solidFill>
          <a:ln/>
        </p:spPr>
      </p:sp>
      <p:sp>
        <p:nvSpPr>
          <p:cNvPr id="6" name="Text 4"/>
          <p:cNvSpPr txBox="1"/>
          <p:nvPr/>
        </p:nvSpPr>
        <p:spPr>
          <a:xfrm>
            <a:off x="868680" y="1874520"/>
            <a:ext cx="548640" cy="1115568"/>
          </a:xfrm>
          <a:prstGeom prst="rect">
            <a:avLst/>
          </a:prstGeom>
          <a:noFill/>
          <a:ln/>
        </p:spPr>
        <p:txBody>
          <a:bodyPr wrap="square" lIns="0" tIns="0" rIns="0" bIns="0" rtlCol="0" anchor="ctr"/>
          <a:lstStyle/>
          <a:p>
            <a:pPr indent="0" marL="0">
              <a:buNone/>
            </a:pPr>
            <a:r>
              <a:rPr lang="en-US" sz="2200" b="1" dirty="0">
                <a:solidFill>
                  <a:srgbClr val="1F6FB2"/>
                </a:solidFill>
                <a:latin typeface="Calibri" pitchFamily="34" charset="0"/>
                <a:ea typeface="Calibri" pitchFamily="34" charset="-122"/>
                <a:cs typeface="Calibri" pitchFamily="34" charset="-120"/>
              </a:rPr>
              <a:t>01</a:t>
            </a:r>
            <a:endParaRPr lang="en-US" sz="2200" dirty="0"/>
          </a:p>
        </p:txBody>
      </p:sp>
      <p:sp>
        <p:nvSpPr>
          <p:cNvPr id="7" name="Shape 5"/>
          <p:cNvSpPr/>
          <p:nvPr/>
        </p:nvSpPr>
        <p:spPr>
          <a:xfrm>
            <a:off x="1463040" y="2112264"/>
            <a:ext cx="640080" cy="640080"/>
          </a:xfrm>
          <a:prstGeom prst="ellipse">
            <a:avLst/>
          </a:prstGeom>
          <a:solidFill>
            <a:srgbClr val="1F6FB2"/>
          </a:solidFill>
          <a:ln/>
        </p:spPr>
      </p:sp>
      <p:pic>
        <p:nvPicPr>
          <p:cNvPr id="8" name="Image 0" descr="preencoded.png">    </p:cNvPr>
          <p:cNvPicPr>
            <a:picLocks noChangeAspect="1"/>
          </p:cNvPicPr>
          <p:nvPr/>
        </p:nvPicPr>
        <p:blipFill>
          <a:blip r:embed="rId1"/>
          <a:stretch>
            <a:fillRect/>
          </a:stretch>
        </p:blipFill>
        <p:spPr>
          <a:xfrm>
            <a:off x="1616659" y="2265883"/>
            <a:ext cx="332842" cy="332842"/>
          </a:xfrm>
          <a:prstGeom prst="rect">
            <a:avLst/>
          </a:prstGeom>
        </p:spPr>
      </p:pic>
      <p:sp>
        <p:nvSpPr>
          <p:cNvPr id="9" name="Text 6"/>
          <p:cNvSpPr txBox="1"/>
          <p:nvPr/>
        </p:nvSpPr>
        <p:spPr>
          <a:xfrm>
            <a:off x="2331720" y="1965960"/>
            <a:ext cx="5074920" cy="384048"/>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Referral slip → Clear details</a:t>
            </a:r>
            <a:endParaRPr lang="en-US" sz="1800" dirty="0"/>
          </a:p>
        </p:txBody>
      </p:sp>
      <p:sp>
        <p:nvSpPr>
          <p:cNvPr id="10" name="Text 7"/>
          <p:cNvSpPr txBox="1"/>
          <p:nvPr/>
        </p:nvSpPr>
        <p:spPr>
          <a:xfrm>
            <a:off x="2331720" y="2350008"/>
            <a:ext cx="5074920" cy="566928"/>
          </a:xfrm>
          <a:prstGeom prst="rect">
            <a:avLst/>
          </a:prstGeom>
          <a:noFill/>
          <a:ln/>
        </p:spPr>
        <p:txBody>
          <a:bodyPr wrap="square" lIns="0" tIns="0" rIns="0" bIns="0" rtlCol="0" anchor="t"/>
          <a:lstStyle/>
          <a:p>
            <a:pPr indent="0" marL="0">
              <a:buNone/>
            </a:pPr>
            <a:r>
              <a:rPr lang="en-US" sz="1300" b="1" dirty="0">
                <a:solidFill>
                  <a:srgbClr val="334155"/>
                </a:solidFill>
                <a:latin typeface="Calibri" pitchFamily="34" charset="0"/>
                <a:ea typeface="Calibri" pitchFamily="34" charset="-122"/>
                <a:cs typeface="Calibri" pitchFamily="34" charset="-120"/>
              </a:rPr>
              <a:t>Reads the doctor's referral. </a:t>
            </a:r>
            <a:pPr indent="0" marL="0">
              <a:buNone/>
            </a:pPr>
            <a:r>
              <a:rPr lang="en-US" sz="1300" dirty="0">
                <a:solidFill>
                  <a:srgbClr val="334155"/>
                </a:solidFill>
                <a:latin typeface="Calibri" pitchFamily="34" charset="0"/>
                <a:ea typeface="Calibri" pitchFamily="34" charset="-122"/>
                <a:cs typeface="Calibri" pitchFamily="34" charset="-120"/>
              </a:rPr>
              <a:t>AI pulls out the hospital and due date. The worker checks them.</a:t>
            </a:r>
            <a:endParaRPr lang="en-US" sz="1300" dirty="0"/>
          </a:p>
        </p:txBody>
      </p:sp>
      <p:sp>
        <p:nvSpPr>
          <p:cNvPr id="11" name="Shape 8"/>
          <p:cNvSpPr/>
          <p:nvPr/>
        </p:nvSpPr>
        <p:spPr>
          <a:xfrm>
            <a:off x="612648" y="3136392"/>
            <a:ext cx="6949440" cy="1115568"/>
          </a:xfrm>
          <a:prstGeom prst="roundRect">
            <a:avLst>
              <a:gd name="adj" fmla="val 9836"/>
            </a:avLst>
          </a:prstGeom>
          <a:solidFill>
            <a:srgbClr val="F4F7FB"/>
          </a:solidFill>
          <a:ln/>
        </p:spPr>
      </p:sp>
      <p:sp>
        <p:nvSpPr>
          <p:cNvPr id="12" name="Text 9"/>
          <p:cNvSpPr txBox="1"/>
          <p:nvPr/>
        </p:nvSpPr>
        <p:spPr>
          <a:xfrm>
            <a:off x="868680" y="3136392"/>
            <a:ext cx="548640" cy="1115568"/>
          </a:xfrm>
          <a:prstGeom prst="rect">
            <a:avLst/>
          </a:prstGeom>
          <a:noFill/>
          <a:ln/>
        </p:spPr>
        <p:txBody>
          <a:bodyPr wrap="square" lIns="0" tIns="0" rIns="0" bIns="0" rtlCol="0" anchor="ctr"/>
          <a:lstStyle/>
          <a:p>
            <a:pPr indent="0" marL="0">
              <a:buNone/>
            </a:pPr>
            <a:r>
              <a:rPr lang="en-US" sz="2200" b="1" dirty="0">
                <a:solidFill>
                  <a:srgbClr val="1F6FB2"/>
                </a:solidFill>
                <a:latin typeface="Calibri" pitchFamily="34" charset="0"/>
                <a:ea typeface="Calibri" pitchFamily="34" charset="-122"/>
                <a:cs typeface="Calibri" pitchFamily="34" charset="-120"/>
              </a:rPr>
              <a:t>02</a:t>
            </a:r>
            <a:endParaRPr lang="en-US" sz="2200" dirty="0"/>
          </a:p>
        </p:txBody>
      </p:sp>
      <p:sp>
        <p:nvSpPr>
          <p:cNvPr id="13" name="Shape 10"/>
          <p:cNvSpPr/>
          <p:nvPr/>
        </p:nvSpPr>
        <p:spPr>
          <a:xfrm>
            <a:off x="1463040" y="3374136"/>
            <a:ext cx="640080" cy="640080"/>
          </a:xfrm>
          <a:prstGeom prst="ellipse">
            <a:avLst/>
          </a:prstGeom>
          <a:solidFill>
            <a:srgbClr val="1F6FB2"/>
          </a:solidFill>
          <a:ln/>
        </p:spPr>
      </p:sp>
      <p:pic>
        <p:nvPicPr>
          <p:cNvPr id="14" name="Image 1" descr="preencoded.png">    </p:cNvPr>
          <p:cNvPicPr>
            <a:picLocks noChangeAspect="1"/>
          </p:cNvPicPr>
          <p:nvPr/>
        </p:nvPicPr>
        <p:blipFill>
          <a:blip r:embed="rId2"/>
          <a:stretch>
            <a:fillRect/>
          </a:stretch>
        </p:blipFill>
        <p:spPr>
          <a:xfrm>
            <a:off x="1616659" y="3527755"/>
            <a:ext cx="332842" cy="332842"/>
          </a:xfrm>
          <a:prstGeom prst="rect">
            <a:avLst/>
          </a:prstGeom>
        </p:spPr>
      </p:pic>
      <p:sp>
        <p:nvSpPr>
          <p:cNvPr id="15" name="Text 11"/>
          <p:cNvSpPr txBox="1"/>
          <p:nvPr/>
        </p:nvSpPr>
        <p:spPr>
          <a:xfrm>
            <a:off x="2331720" y="3227832"/>
            <a:ext cx="5074920" cy="384048"/>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Local-language voice → Reason</a:t>
            </a:r>
            <a:endParaRPr lang="en-US" sz="1800" dirty="0"/>
          </a:p>
        </p:txBody>
      </p:sp>
      <p:sp>
        <p:nvSpPr>
          <p:cNvPr id="16" name="Text 12"/>
          <p:cNvSpPr txBox="1"/>
          <p:nvPr/>
        </p:nvSpPr>
        <p:spPr>
          <a:xfrm>
            <a:off x="2331720" y="3611880"/>
            <a:ext cx="5074920" cy="566928"/>
          </a:xfrm>
          <a:prstGeom prst="rect">
            <a:avLst/>
          </a:prstGeom>
          <a:noFill/>
          <a:ln/>
        </p:spPr>
        <p:txBody>
          <a:bodyPr wrap="square" lIns="0" tIns="0" rIns="0" bIns="0" rtlCol="0" anchor="t"/>
          <a:lstStyle/>
          <a:p>
            <a:pPr indent="0" marL="0">
              <a:buNone/>
            </a:pPr>
            <a:r>
              <a:rPr lang="en-US" sz="1300" b="1" dirty="0">
                <a:solidFill>
                  <a:srgbClr val="334155"/>
                </a:solidFill>
                <a:latin typeface="Calibri" pitchFamily="34" charset="0"/>
                <a:ea typeface="Calibri" pitchFamily="34" charset="-122"/>
                <a:cs typeface="Calibri" pitchFamily="34" charset="-120"/>
              </a:rPr>
              <a:t>Summarizes the reported reason. </a:t>
            </a:r>
            <a:pPr indent="0" marL="0">
              <a:buNone/>
            </a:pPr>
            <a:r>
              <a:rPr lang="en-US" sz="1300" dirty="0">
                <a:solidFill>
                  <a:srgbClr val="334155"/>
                </a:solidFill>
                <a:latin typeface="Calibri" pitchFamily="34" charset="0"/>
                <a:ea typeface="Calibri" pitchFamily="34" charset="-122"/>
                <a:cs typeface="Calibri" pitchFamily="34" charset="-120"/>
              </a:rPr>
              <a:t>AI summarizes what the patient says: unclear instructions, cost or another barrier. The worker confirms.</a:t>
            </a:r>
            <a:endParaRPr lang="en-US" sz="1300" dirty="0"/>
          </a:p>
        </p:txBody>
      </p:sp>
      <p:sp>
        <p:nvSpPr>
          <p:cNvPr id="17" name="Shape 13"/>
          <p:cNvSpPr/>
          <p:nvPr/>
        </p:nvSpPr>
        <p:spPr>
          <a:xfrm>
            <a:off x="612648" y="4398264"/>
            <a:ext cx="6949440" cy="1115568"/>
          </a:xfrm>
          <a:prstGeom prst="roundRect">
            <a:avLst>
              <a:gd name="adj" fmla="val 9836"/>
            </a:avLst>
          </a:prstGeom>
          <a:solidFill>
            <a:srgbClr val="F4F7FB"/>
          </a:solidFill>
          <a:ln/>
        </p:spPr>
      </p:sp>
      <p:sp>
        <p:nvSpPr>
          <p:cNvPr id="18" name="Text 14"/>
          <p:cNvSpPr txBox="1"/>
          <p:nvPr/>
        </p:nvSpPr>
        <p:spPr>
          <a:xfrm>
            <a:off x="868680" y="4398264"/>
            <a:ext cx="548640" cy="1115568"/>
          </a:xfrm>
          <a:prstGeom prst="rect">
            <a:avLst/>
          </a:prstGeom>
          <a:noFill/>
          <a:ln/>
        </p:spPr>
        <p:txBody>
          <a:bodyPr wrap="square" lIns="0" tIns="0" rIns="0" bIns="0" rtlCol="0" anchor="ctr"/>
          <a:lstStyle/>
          <a:p>
            <a:pPr indent="0" marL="0">
              <a:buNone/>
            </a:pPr>
            <a:r>
              <a:rPr lang="en-US" sz="2200" b="1" dirty="0">
                <a:solidFill>
                  <a:srgbClr val="1F6FB2"/>
                </a:solidFill>
                <a:latin typeface="Calibri" pitchFamily="34" charset="0"/>
                <a:ea typeface="Calibri" pitchFamily="34" charset="-122"/>
                <a:cs typeface="Calibri" pitchFamily="34" charset="-120"/>
              </a:rPr>
              <a:t>03</a:t>
            </a:r>
            <a:endParaRPr lang="en-US" sz="2200" dirty="0"/>
          </a:p>
        </p:txBody>
      </p:sp>
      <p:sp>
        <p:nvSpPr>
          <p:cNvPr id="19" name="Shape 15"/>
          <p:cNvSpPr/>
          <p:nvPr/>
        </p:nvSpPr>
        <p:spPr>
          <a:xfrm>
            <a:off x="1463040" y="4636008"/>
            <a:ext cx="640080" cy="640080"/>
          </a:xfrm>
          <a:prstGeom prst="ellipse">
            <a:avLst/>
          </a:prstGeom>
          <a:solidFill>
            <a:srgbClr val="1F6FB2"/>
          </a:solidFill>
          <a:ln/>
        </p:spPr>
      </p:sp>
      <p:pic>
        <p:nvPicPr>
          <p:cNvPr id="20" name="Image 2" descr="preencoded.png">    </p:cNvPr>
          <p:cNvPicPr>
            <a:picLocks noChangeAspect="1"/>
          </p:cNvPicPr>
          <p:nvPr/>
        </p:nvPicPr>
        <p:blipFill>
          <a:blip r:embed="rId3"/>
          <a:stretch>
            <a:fillRect/>
          </a:stretch>
        </p:blipFill>
        <p:spPr>
          <a:xfrm>
            <a:off x="1616659" y="4789627"/>
            <a:ext cx="332842" cy="332842"/>
          </a:xfrm>
          <a:prstGeom prst="rect">
            <a:avLst/>
          </a:prstGeom>
        </p:spPr>
      </p:pic>
      <p:sp>
        <p:nvSpPr>
          <p:cNvPr id="21" name="Text 16"/>
          <p:cNvSpPr txBox="1"/>
          <p:nvPr/>
        </p:nvSpPr>
        <p:spPr>
          <a:xfrm>
            <a:off x="2331720" y="4489704"/>
            <a:ext cx="5074920" cy="384048"/>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Reason → Suggested help</a:t>
            </a:r>
            <a:endParaRPr lang="en-US" sz="1800" dirty="0"/>
          </a:p>
        </p:txBody>
      </p:sp>
      <p:sp>
        <p:nvSpPr>
          <p:cNvPr id="22" name="Text 17"/>
          <p:cNvSpPr txBox="1"/>
          <p:nvPr/>
        </p:nvSpPr>
        <p:spPr>
          <a:xfrm>
            <a:off x="2331720" y="4873752"/>
            <a:ext cx="5074920" cy="566928"/>
          </a:xfrm>
          <a:prstGeom prst="rect">
            <a:avLst/>
          </a:prstGeom>
          <a:noFill/>
          <a:ln/>
        </p:spPr>
        <p:txBody>
          <a:bodyPr wrap="square" lIns="0" tIns="0" rIns="0" bIns="0" rtlCol="0" anchor="t"/>
          <a:lstStyle/>
          <a:p>
            <a:pPr indent="0" marL="0">
              <a:buNone/>
            </a:pPr>
            <a:r>
              <a:rPr lang="en-US" sz="1300" b="1" dirty="0">
                <a:solidFill>
                  <a:srgbClr val="334155"/>
                </a:solidFill>
                <a:latin typeface="Calibri" pitchFamily="34" charset="0"/>
                <a:ea typeface="Calibri" pitchFamily="34" charset="-122"/>
                <a:cs typeface="Calibri" pitchFamily="34" charset="-120"/>
              </a:rPr>
              <a:t>Suggests practical next steps. </a:t>
            </a:r>
            <a:pPr indent="0" marL="0">
              <a:buNone/>
            </a:pPr>
            <a:r>
              <a:rPr lang="en-US" sz="1300" dirty="0">
                <a:solidFill>
                  <a:srgbClr val="334155"/>
                </a:solidFill>
                <a:latin typeface="Calibri" pitchFamily="34" charset="0"/>
                <a:ea typeface="Calibri" pitchFamily="34" charset="-122"/>
                <a:cs typeface="Calibri" pitchFamily="34" charset="-120"/>
              </a:rPr>
              <a:t>The worker checks and acts. AI never decides clinical urgency. Unclear input? Ask a person.</a:t>
            </a:r>
            <a:endParaRPr lang="en-US" sz="1300" dirty="0"/>
          </a:p>
        </p:txBody>
      </p:sp>
      <p:sp>
        <p:nvSpPr>
          <p:cNvPr id="23" name="Shape 18"/>
          <p:cNvSpPr/>
          <p:nvPr/>
        </p:nvSpPr>
        <p:spPr>
          <a:xfrm>
            <a:off x="7863840" y="1874520"/>
            <a:ext cx="3721608" cy="3639312"/>
          </a:xfrm>
          <a:prstGeom prst="roundRect">
            <a:avLst>
              <a:gd name="adj" fmla="val 3015"/>
            </a:avLst>
          </a:prstGeom>
          <a:solidFill>
            <a:srgbClr val="0B2545"/>
          </a:solidFill>
          <a:ln/>
        </p:spPr>
      </p:sp>
      <p:sp>
        <p:nvSpPr>
          <p:cNvPr id="24" name="Shape 19"/>
          <p:cNvSpPr/>
          <p:nvPr/>
        </p:nvSpPr>
        <p:spPr>
          <a:xfrm>
            <a:off x="8138160" y="2057400"/>
            <a:ext cx="548640" cy="548640"/>
          </a:xfrm>
          <a:prstGeom prst="ellipse">
            <a:avLst/>
          </a:prstGeom>
          <a:solidFill>
            <a:srgbClr val="2E9E6B"/>
          </a:solidFill>
          <a:ln/>
        </p:spPr>
      </p:sp>
      <p:pic>
        <p:nvPicPr>
          <p:cNvPr id="25" name="Image 3" descr="preencoded.png">    </p:cNvPr>
          <p:cNvPicPr>
            <a:picLocks noChangeAspect="1"/>
          </p:cNvPicPr>
          <p:nvPr/>
        </p:nvPicPr>
        <p:blipFill>
          <a:blip r:embed="rId4"/>
          <a:stretch>
            <a:fillRect/>
          </a:stretch>
        </p:blipFill>
        <p:spPr>
          <a:xfrm>
            <a:off x="8247888" y="2167128"/>
            <a:ext cx="329184" cy="329184"/>
          </a:xfrm>
          <a:prstGeom prst="rect">
            <a:avLst/>
          </a:prstGeom>
        </p:spPr>
      </p:pic>
      <p:sp>
        <p:nvSpPr>
          <p:cNvPr id="26" name="Text 20"/>
          <p:cNvSpPr txBox="1"/>
          <p:nvPr/>
        </p:nvSpPr>
        <p:spPr>
          <a:xfrm>
            <a:off x="8823960" y="2057400"/>
            <a:ext cx="2651760" cy="548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Responsible by design</a:t>
            </a:r>
            <a:endParaRPr lang="en-US" sz="1800" dirty="0"/>
          </a:p>
        </p:txBody>
      </p:sp>
      <p:sp>
        <p:nvSpPr>
          <p:cNvPr id="27" name="Text 21"/>
          <p:cNvSpPr txBox="1"/>
          <p:nvPr/>
        </p:nvSpPr>
        <p:spPr>
          <a:xfrm>
            <a:off x="8138160" y="2788920"/>
            <a:ext cx="3291840" cy="2606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No AI diagnosis</a:t>
            </a:r>
            <a:endParaRPr lang="en-US" sz="1400" dirty="0"/>
          </a:p>
          <a:p>
            <a:pPr marL="342900" indent="-3429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No AI prescribing</a:t>
            </a:r>
            <a:endParaRPr lang="en-US" sz="1400" dirty="0"/>
          </a:p>
          <a:p>
            <a:pPr marL="342900" indent="-3429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The doctor decides care</a:t>
            </a:r>
            <a:endParaRPr lang="en-US" sz="1400" dirty="0"/>
          </a:p>
          <a:p>
            <a:pPr marL="342900" indent="-3429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Workers verify AI outputs</a:t>
            </a:r>
            <a:endParaRPr lang="en-US" sz="1400" dirty="0"/>
          </a:p>
          <a:p>
            <a:pPr marL="342900" indent="-3429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Human confirmation is required</a:t>
            </a:r>
            <a:endParaRPr lang="en-US" sz="1400" dirty="0"/>
          </a:p>
          <a:p>
            <a:pPr marL="342900" indent="-3429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Simple checks flag unconfirmed referrals</a:t>
            </a:r>
            <a:endParaRPr lang="en-US" sz="1400" dirty="0"/>
          </a:p>
          <a:p>
            <a:pPr marL="342900" indent="-3429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No trained prediction in the MVP</a:t>
            </a:r>
            <a:endParaRPr lang="en-US" sz="1400" dirty="0"/>
          </a:p>
        </p:txBody>
      </p:sp>
      <p:sp>
        <p:nvSpPr>
          <p:cNvPr id="28" name="Shape 22"/>
          <p:cNvSpPr/>
          <p:nvPr/>
        </p:nvSpPr>
        <p:spPr>
          <a:xfrm>
            <a:off x="612648" y="5715000"/>
            <a:ext cx="10972800" cy="530352"/>
          </a:xfrm>
          <a:prstGeom prst="roundRect">
            <a:avLst>
              <a:gd name="adj" fmla="val 20690"/>
            </a:avLst>
          </a:prstGeom>
          <a:solidFill>
            <a:srgbClr val="E6F4EC"/>
          </a:solidFill>
          <a:ln/>
        </p:spPr>
      </p:sp>
      <p:sp>
        <p:nvSpPr>
          <p:cNvPr id="29" name="Text 23"/>
          <p:cNvSpPr txBox="1"/>
          <p:nvPr/>
        </p:nvSpPr>
        <p:spPr>
          <a:xfrm>
            <a:off x="612648" y="5715000"/>
            <a:ext cx="10972800" cy="530352"/>
          </a:xfrm>
          <a:prstGeom prst="rect">
            <a:avLst/>
          </a:prstGeom>
          <a:noFill/>
          <a:ln/>
        </p:spPr>
        <p:txBody>
          <a:bodyPr wrap="square" lIns="0" tIns="0" rIns="0" bIns="0" rtlCol="0" anchor="ctr"/>
          <a:lstStyle/>
          <a:p>
            <a:pPr algn="ctr" indent="0" marL="0">
              <a:buNone/>
            </a:pPr>
            <a:r>
              <a:rPr lang="en-US" sz="2000" b="1" dirty="0">
                <a:solidFill>
                  <a:srgbClr val="0B2545"/>
                </a:solidFill>
                <a:latin typeface="Calibri" pitchFamily="34" charset="0"/>
                <a:ea typeface="Calibri" pitchFamily="34" charset="-122"/>
                <a:cs typeface="Calibri" pitchFamily="34" charset="-120"/>
              </a:rPr>
              <a:t>Workers verify.  Doctors decide.</a:t>
            </a:r>
            <a:endParaRPr lang="en-US" sz="20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12648" y="384048"/>
            <a:ext cx="10972800" cy="274320"/>
          </a:xfrm>
          <a:prstGeom prst="rect">
            <a:avLst/>
          </a:prstGeom>
          <a:noFill/>
          <a:ln/>
        </p:spPr>
        <p:txBody>
          <a:bodyPr wrap="square" lIns="0" tIns="0" rIns="0" bIns="0" rtlCol="0" anchor="ctr"/>
          <a:lstStyle/>
          <a:p>
            <a:pPr indent="0" marL="0">
              <a:buNone/>
            </a:pPr>
            <a:r>
              <a:rPr lang="en-US" sz="1200" b="1" spc="200" kern="0" dirty="0">
                <a:solidFill>
                  <a:srgbClr val="1F6FB2"/>
                </a:solidFill>
                <a:latin typeface="Calibri" pitchFamily="34" charset="0"/>
                <a:ea typeface="Calibri" pitchFamily="34" charset="-122"/>
                <a:cs typeface="Calibri" pitchFamily="34" charset="-120"/>
              </a:rPr>
              <a:t>08 — MORE THAN A REMINDER</a:t>
            </a:r>
            <a:endParaRPr lang="en-US" sz="1200" dirty="0"/>
          </a:p>
        </p:txBody>
      </p:sp>
      <p:sp>
        <p:nvSpPr>
          <p:cNvPr id="3" name="Text 1"/>
          <p:cNvSpPr txBox="1"/>
          <p:nvPr/>
        </p:nvSpPr>
        <p:spPr>
          <a:xfrm>
            <a:off x="612648" y="685800"/>
            <a:ext cx="10972800" cy="731520"/>
          </a:xfrm>
          <a:prstGeom prst="rect">
            <a:avLst/>
          </a:prstGeom>
          <a:noFill/>
          <a:ln/>
        </p:spPr>
        <p:txBody>
          <a:bodyPr wrap="square" lIns="0" tIns="0" rIns="0" bIns="0" rtlCol="0" anchor="ctr"/>
          <a:lstStyle/>
          <a:p>
            <a:pPr indent="0" marL="0">
              <a:buNone/>
            </a:pPr>
            <a:r>
              <a:rPr lang="en-US" sz="3600" b="1" dirty="0">
                <a:solidFill>
                  <a:srgbClr val="0B2545"/>
                </a:solidFill>
                <a:latin typeface="Calibri" pitchFamily="34" charset="0"/>
                <a:ea typeface="Calibri" pitchFamily="34" charset="-122"/>
                <a:cs typeface="Calibri" pitchFamily="34" charset="-120"/>
              </a:rPr>
              <a:t>“Go to hospital” isn't enough.</a:t>
            </a:r>
            <a:endParaRPr lang="en-US" sz="3600" dirty="0"/>
          </a:p>
        </p:txBody>
      </p:sp>
      <p:sp>
        <p:nvSpPr>
          <p:cNvPr id="4" name="Shape 2"/>
          <p:cNvSpPr/>
          <p:nvPr/>
        </p:nvSpPr>
        <p:spPr>
          <a:xfrm>
            <a:off x="612648" y="1572768"/>
            <a:ext cx="457200" cy="457200"/>
          </a:xfrm>
          <a:prstGeom prst="ellipse">
            <a:avLst/>
          </a:prstGeom>
          <a:solidFill>
            <a:srgbClr val="0B2545"/>
          </a:solidFill>
          <a:ln/>
        </p:spPr>
      </p:sp>
      <p:pic>
        <p:nvPicPr>
          <p:cNvPr id="5" name="Image 0" descr="preencoded.png">    </p:cNvPr>
          <p:cNvPicPr>
            <a:picLocks noChangeAspect="1"/>
          </p:cNvPicPr>
          <p:nvPr/>
        </p:nvPicPr>
        <p:blipFill>
          <a:blip r:embed="rId1"/>
          <a:stretch>
            <a:fillRect/>
          </a:stretch>
        </p:blipFill>
        <p:spPr>
          <a:xfrm>
            <a:off x="715518" y="1675638"/>
            <a:ext cx="251460" cy="251460"/>
          </a:xfrm>
          <a:prstGeom prst="rect">
            <a:avLst/>
          </a:prstGeom>
        </p:spPr>
      </p:pic>
      <p:sp>
        <p:nvSpPr>
          <p:cNvPr id="6" name="Text 3"/>
          <p:cNvSpPr txBox="1"/>
          <p:nvPr/>
        </p:nvSpPr>
        <p:spPr>
          <a:xfrm>
            <a:off x="1188720" y="1572768"/>
            <a:ext cx="4297680" cy="457200"/>
          </a:xfrm>
          <a:prstGeom prst="rect">
            <a:avLst/>
          </a:prstGeom>
          <a:noFill/>
          <a:ln/>
        </p:spPr>
        <p:txBody>
          <a:bodyPr wrap="square" lIns="0" tIns="0" rIns="0" bIns="0" rtlCol="0" anchor="ctr"/>
          <a:lstStyle/>
          <a:p>
            <a:pPr indent="0" marL="0">
              <a:buNone/>
            </a:pPr>
            <a:r>
              <a:rPr lang="en-US" sz="2000" b="1" dirty="0">
                <a:solidFill>
                  <a:srgbClr val="0B2545"/>
                </a:solidFill>
                <a:latin typeface="Calibri" pitchFamily="34" charset="0"/>
                <a:ea typeface="Calibri" pitchFamily="34" charset="-122"/>
                <a:cs typeface="Calibri" pitchFamily="34" charset="-120"/>
              </a:rPr>
              <a:t>Identify the barrier</a:t>
            </a:r>
            <a:endParaRPr lang="en-US" sz="2000" dirty="0"/>
          </a:p>
        </p:txBody>
      </p:sp>
      <p:sp>
        <p:nvSpPr>
          <p:cNvPr id="7" name="Text 4"/>
          <p:cNvSpPr txBox="1"/>
          <p:nvPr/>
        </p:nvSpPr>
        <p:spPr>
          <a:xfrm>
            <a:off x="1188720" y="1993392"/>
            <a:ext cx="4297680" cy="27432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What is holding up the next step?</a:t>
            </a:r>
            <a:endParaRPr lang="en-US" sz="1300" dirty="0"/>
          </a:p>
        </p:txBody>
      </p:sp>
      <p:sp>
        <p:nvSpPr>
          <p:cNvPr id="8" name="Shape 5"/>
          <p:cNvSpPr/>
          <p:nvPr/>
        </p:nvSpPr>
        <p:spPr>
          <a:xfrm>
            <a:off x="6464808" y="1572768"/>
            <a:ext cx="457200" cy="457200"/>
          </a:xfrm>
          <a:prstGeom prst="ellipse">
            <a:avLst/>
          </a:prstGeom>
          <a:solidFill>
            <a:srgbClr val="2E9E6B"/>
          </a:solidFill>
          <a:ln/>
        </p:spPr>
      </p:sp>
      <p:pic>
        <p:nvPicPr>
          <p:cNvPr id="9" name="Image 1" descr="preencoded.png">    </p:cNvPr>
          <p:cNvPicPr>
            <a:picLocks noChangeAspect="1"/>
          </p:cNvPicPr>
          <p:nvPr/>
        </p:nvPicPr>
        <p:blipFill>
          <a:blip r:embed="rId2"/>
          <a:stretch>
            <a:fillRect/>
          </a:stretch>
        </p:blipFill>
        <p:spPr>
          <a:xfrm>
            <a:off x="6567678" y="1675638"/>
            <a:ext cx="251460" cy="251460"/>
          </a:xfrm>
          <a:prstGeom prst="rect">
            <a:avLst/>
          </a:prstGeom>
        </p:spPr>
      </p:pic>
      <p:sp>
        <p:nvSpPr>
          <p:cNvPr id="10" name="Text 6"/>
          <p:cNvSpPr txBox="1"/>
          <p:nvPr/>
        </p:nvSpPr>
        <p:spPr>
          <a:xfrm>
            <a:off x="7040880" y="1572768"/>
            <a:ext cx="4480560" cy="457200"/>
          </a:xfrm>
          <a:prstGeom prst="rect">
            <a:avLst/>
          </a:prstGeom>
          <a:noFill/>
          <a:ln/>
        </p:spPr>
        <p:txBody>
          <a:bodyPr wrap="square" lIns="0" tIns="0" rIns="0" bIns="0" rtlCol="0" anchor="ctr"/>
          <a:lstStyle/>
          <a:p>
            <a:pPr indent="0" marL="0">
              <a:buNone/>
            </a:pPr>
            <a:r>
              <a:rPr lang="en-US" sz="2000" b="1" dirty="0">
                <a:solidFill>
                  <a:srgbClr val="0B2545"/>
                </a:solidFill>
                <a:latin typeface="Calibri" pitchFamily="34" charset="0"/>
                <a:ea typeface="Calibri" pitchFamily="34" charset="-122"/>
                <a:cs typeface="Calibri" pitchFamily="34" charset="-120"/>
              </a:rPr>
              <a:t>Help with the next step</a:t>
            </a:r>
            <a:endParaRPr lang="en-US" sz="2000" dirty="0"/>
          </a:p>
        </p:txBody>
      </p:sp>
      <p:sp>
        <p:nvSpPr>
          <p:cNvPr id="11" name="Text 7"/>
          <p:cNvSpPr txBox="1"/>
          <p:nvPr/>
        </p:nvSpPr>
        <p:spPr>
          <a:xfrm>
            <a:off x="7040880" y="1993392"/>
            <a:ext cx="4480560" cy="27432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Ask why → match the help</a:t>
            </a:r>
            <a:endParaRPr lang="en-US" sz="1300" dirty="0"/>
          </a:p>
        </p:txBody>
      </p:sp>
      <p:sp>
        <p:nvSpPr>
          <p:cNvPr id="12" name="Shape 8"/>
          <p:cNvSpPr/>
          <p:nvPr/>
        </p:nvSpPr>
        <p:spPr>
          <a:xfrm>
            <a:off x="612648" y="2423160"/>
            <a:ext cx="4937760" cy="393192"/>
          </a:xfrm>
          <a:prstGeom prst="roundRect">
            <a:avLst>
              <a:gd name="adj" fmla="val 27907"/>
            </a:avLst>
          </a:prstGeom>
          <a:solidFill>
            <a:srgbClr val="F4F7FB"/>
          </a:solidFill>
          <a:ln/>
        </p:spPr>
      </p:sp>
      <p:sp>
        <p:nvSpPr>
          <p:cNvPr id="13" name="Text 9"/>
          <p:cNvSpPr txBox="1"/>
          <p:nvPr/>
        </p:nvSpPr>
        <p:spPr>
          <a:xfrm>
            <a:off x="841248" y="2423160"/>
            <a:ext cx="4572000" cy="393192"/>
          </a:xfrm>
          <a:prstGeom prst="rect">
            <a:avLst/>
          </a:prstGeom>
          <a:noFill/>
          <a:ln/>
        </p:spPr>
        <p:txBody>
          <a:bodyPr wrap="square" lIns="0" tIns="0" rIns="0" bIns="0" rtlCol="0" anchor="ctr"/>
          <a:lstStyle/>
          <a:p>
            <a:pPr indent="0" marL="0">
              <a:buNone/>
            </a:pPr>
            <a:r>
              <a:rPr lang="en-US" sz="1600" dirty="0">
                <a:solidFill>
                  <a:srgbClr val="0B2545"/>
                </a:solidFill>
                <a:latin typeface="Calibri" pitchFamily="34" charset="0"/>
                <a:ea typeface="Calibri" pitchFamily="34" charset="-122"/>
                <a:cs typeface="Calibri" pitchFamily="34" charset="-120"/>
              </a:rPr>
              <a:t>Didn't understand?</a:t>
            </a:r>
            <a:endParaRPr lang="en-US" sz="1600" dirty="0"/>
          </a:p>
        </p:txBody>
      </p:sp>
      <p:pic>
        <p:nvPicPr>
          <p:cNvPr id="14" name="Image 2" descr="preencoded.png">    </p:cNvPr>
          <p:cNvPicPr>
            <a:picLocks noChangeAspect="1"/>
          </p:cNvPicPr>
          <p:nvPr/>
        </p:nvPicPr>
        <p:blipFill>
          <a:blip r:embed="rId3"/>
          <a:stretch>
            <a:fillRect/>
          </a:stretch>
        </p:blipFill>
        <p:spPr>
          <a:xfrm>
            <a:off x="5824728" y="2450592"/>
            <a:ext cx="338328" cy="338328"/>
          </a:xfrm>
          <a:prstGeom prst="rect">
            <a:avLst/>
          </a:prstGeom>
        </p:spPr>
      </p:pic>
      <p:sp>
        <p:nvSpPr>
          <p:cNvPr id="15" name="Shape 10"/>
          <p:cNvSpPr/>
          <p:nvPr/>
        </p:nvSpPr>
        <p:spPr>
          <a:xfrm>
            <a:off x="6464808" y="2423160"/>
            <a:ext cx="5120640" cy="393192"/>
          </a:xfrm>
          <a:prstGeom prst="roundRect">
            <a:avLst>
              <a:gd name="adj" fmla="val 27907"/>
            </a:avLst>
          </a:prstGeom>
          <a:solidFill>
            <a:srgbClr val="E6F4EC"/>
          </a:solidFill>
          <a:ln/>
        </p:spPr>
      </p:sp>
      <p:sp>
        <p:nvSpPr>
          <p:cNvPr id="16" name="Text 11"/>
          <p:cNvSpPr txBox="1"/>
          <p:nvPr/>
        </p:nvSpPr>
        <p:spPr>
          <a:xfrm>
            <a:off x="6693408" y="2423160"/>
            <a:ext cx="4754880" cy="393192"/>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Explain the doctor's instruction</a:t>
            </a:r>
            <a:endParaRPr lang="en-US" sz="1600" dirty="0"/>
          </a:p>
        </p:txBody>
      </p:sp>
      <p:sp>
        <p:nvSpPr>
          <p:cNvPr id="17" name="Shape 12"/>
          <p:cNvSpPr/>
          <p:nvPr/>
        </p:nvSpPr>
        <p:spPr>
          <a:xfrm>
            <a:off x="612648" y="2898648"/>
            <a:ext cx="4937760" cy="393192"/>
          </a:xfrm>
          <a:prstGeom prst="roundRect">
            <a:avLst>
              <a:gd name="adj" fmla="val 27907"/>
            </a:avLst>
          </a:prstGeom>
          <a:solidFill>
            <a:srgbClr val="F4F7FB"/>
          </a:solidFill>
          <a:ln/>
        </p:spPr>
      </p:sp>
      <p:sp>
        <p:nvSpPr>
          <p:cNvPr id="18" name="Text 13"/>
          <p:cNvSpPr txBox="1"/>
          <p:nvPr/>
        </p:nvSpPr>
        <p:spPr>
          <a:xfrm>
            <a:off x="841248" y="2898648"/>
            <a:ext cx="4572000" cy="393192"/>
          </a:xfrm>
          <a:prstGeom prst="rect">
            <a:avLst/>
          </a:prstGeom>
          <a:noFill/>
          <a:ln/>
        </p:spPr>
        <p:txBody>
          <a:bodyPr wrap="square" lIns="0" tIns="0" rIns="0" bIns="0" rtlCol="0" anchor="ctr"/>
          <a:lstStyle/>
          <a:p>
            <a:pPr indent="0" marL="0">
              <a:buNone/>
            </a:pPr>
            <a:r>
              <a:rPr lang="en-US" sz="1600" dirty="0">
                <a:solidFill>
                  <a:srgbClr val="0B2545"/>
                </a:solidFill>
                <a:latin typeface="Calibri" pitchFamily="34" charset="0"/>
                <a:ea typeface="Calibri" pitchFamily="34" charset="-122"/>
                <a:cs typeface="Calibri" pitchFamily="34" charset="-120"/>
              </a:rPr>
              <a:t>Thought it could wait?</a:t>
            </a:r>
            <a:endParaRPr lang="en-US" sz="1600" dirty="0"/>
          </a:p>
        </p:txBody>
      </p:sp>
      <p:pic>
        <p:nvPicPr>
          <p:cNvPr id="19" name="Image 3" descr="preencoded.png">    </p:cNvPr>
          <p:cNvPicPr>
            <a:picLocks noChangeAspect="1"/>
          </p:cNvPicPr>
          <p:nvPr/>
        </p:nvPicPr>
        <p:blipFill>
          <a:blip r:embed="rId4"/>
          <a:stretch>
            <a:fillRect/>
          </a:stretch>
        </p:blipFill>
        <p:spPr>
          <a:xfrm>
            <a:off x="5824728" y="2926080"/>
            <a:ext cx="338328" cy="338328"/>
          </a:xfrm>
          <a:prstGeom prst="rect">
            <a:avLst/>
          </a:prstGeom>
        </p:spPr>
      </p:pic>
      <p:sp>
        <p:nvSpPr>
          <p:cNvPr id="20" name="Shape 14"/>
          <p:cNvSpPr/>
          <p:nvPr/>
        </p:nvSpPr>
        <p:spPr>
          <a:xfrm>
            <a:off x="6464808" y="2898648"/>
            <a:ext cx="5120640" cy="393192"/>
          </a:xfrm>
          <a:prstGeom prst="roundRect">
            <a:avLst>
              <a:gd name="adj" fmla="val 27907"/>
            </a:avLst>
          </a:prstGeom>
          <a:solidFill>
            <a:srgbClr val="E6F4EC"/>
          </a:solidFill>
          <a:ln/>
        </p:spPr>
      </p:sp>
      <p:sp>
        <p:nvSpPr>
          <p:cNvPr id="21" name="Text 15"/>
          <p:cNvSpPr txBox="1"/>
          <p:nvPr/>
        </p:nvSpPr>
        <p:spPr>
          <a:xfrm>
            <a:off x="6693408" y="2898648"/>
            <a:ext cx="4754880" cy="393192"/>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Check understanding</a:t>
            </a:r>
            <a:endParaRPr lang="en-US" sz="1600" dirty="0"/>
          </a:p>
        </p:txBody>
      </p:sp>
      <p:sp>
        <p:nvSpPr>
          <p:cNvPr id="22" name="Shape 16"/>
          <p:cNvSpPr/>
          <p:nvPr/>
        </p:nvSpPr>
        <p:spPr>
          <a:xfrm>
            <a:off x="612648" y="3374136"/>
            <a:ext cx="4937760" cy="393192"/>
          </a:xfrm>
          <a:prstGeom prst="roundRect">
            <a:avLst>
              <a:gd name="adj" fmla="val 27907"/>
            </a:avLst>
          </a:prstGeom>
          <a:solidFill>
            <a:srgbClr val="F4F7FB"/>
          </a:solidFill>
          <a:ln/>
        </p:spPr>
      </p:sp>
      <p:sp>
        <p:nvSpPr>
          <p:cNvPr id="23" name="Text 17"/>
          <p:cNvSpPr txBox="1"/>
          <p:nvPr/>
        </p:nvSpPr>
        <p:spPr>
          <a:xfrm>
            <a:off x="841248" y="3374136"/>
            <a:ext cx="4572000" cy="393192"/>
          </a:xfrm>
          <a:prstGeom prst="rect">
            <a:avLst/>
          </a:prstGeom>
          <a:noFill/>
          <a:ln/>
        </p:spPr>
        <p:txBody>
          <a:bodyPr wrap="square" lIns="0" tIns="0" rIns="0" bIns="0" rtlCol="0" anchor="ctr"/>
          <a:lstStyle/>
          <a:p>
            <a:pPr indent="0" marL="0">
              <a:buNone/>
            </a:pPr>
            <a:r>
              <a:rPr lang="en-US" sz="1600" dirty="0">
                <a:solidFill>
                  <a:srgbClr val="0B2545"/>
                </a:solidFill>
                <a:latin typeface="Calibri" pitchFamily="34" charset="0"/>
                <a:ea typeface="Calibri" pitchFamily="34" charset="-122"/>
                <a:cs typeface="Calibri" pitchFamily="34" charset="-120"/>
              </a:rPr>
              <a:t>Cost?</a:t>
            </a:r>
            <a:endParaRPr lang="en-US" sz="1600" dirty="0"/>
          </a:p>
        </p:txBody>
      </p:sp>
      <p:pic>
        <p:nvPicPr>
          <p:cNvPr id="24" name="Image 4" descr="preencoded.png">    </p:cNvPr>
          <p:cNvPicPr>
            <a:picLocks noChangeAspect="1"/>
          </p:cNvPicPr>
          <p:nvPr/>
        </p:nvPicPr>
        <p:blipFill>
          <a:blip r:embed="rId5"/>
          <a:stretch>
            <a:fillRect/>
          </a:stretch>
        </p:blipFill>
        <p:spPr>
          <a:xfrm>
            <a:off x="5824728" y="3401568"/>
            <a:ext cx="338328" cy="338328"/>
          </a:xfrm>
          <a:prstGeom prst="rect">
            <a:avLst/>
          </a:prstGeom>
        </p:spPr>
      </p:pic>
      <p:sp>
        <p:nvSpPr>
          <p:cNvPr id="25" name="Shape 18"/>
          <p:cNvSpPr/>
          <p:nvPr/>
        </p:nvSpPr>
        <p:spPr>
          <a:xfrm>
            <a:off x="6464808" y="3374136"/>
            <a:ext cx="5120640" cy="393192"/>
          </a:xfrm>
          <a:prstGeom prst="roundRect">
            <a:avLst>
              <a:gd name="adj" fmla="val 27907"/>
            </a:avLst>
          </a:prstGeom>
          <a:solidFill>
            <a:srgbClr val="E6F4EC"/>
          </a:solidFill>
          <a:ln/>
        </p:spPr>
      </p:sp>
      <p:sp>
        <p:nvSpPr>
          <p:cNvPr id="26" name="Text 19"/>
          <p:cNvSpPr txBox="1"/>
          <p:nvPr/>
        </p:nvSpPr>
        <p:spPr>
          <a:xfrm>
            <a:off x="6693408" y="3374136"/>
            <a:ext cx="4754880" cy="393192"/>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Discuss available support</a:t>
            </a:r>
            <a:endParaRPr lang="en-US" sz="1600" dirty="0"/>
          </a:p>
        </p:txBody>
      </p:sp>
      <p:sp>
        <p:nvSpPr>
          <p:cNvPr id="27" name="Shape 20"/>
          <p:cNvSpPr/>
          <p:nvPr/>
        </p:nvSpPr>
        <p:spPr>
          <a:xfrm>
            <a:off x="612648" y="3849624"/>
            <a:ext cx="4937760" cy="393192"/>
          </a:xfrm>
          <a:prstGeom prst="roundRect">
            <a:avLst>
              <a:gd name="adj" fmla="val 27907"/>
            </a:avLst>
          </a:prstGeom>
          <a:solidFill>
            <a:srgbClr val="F4F7FB"/>
          </a:solidFill>
          <a:ln/>
        </p:spPr>
      </p:sp>
      <p:sp>
        <p:nvSpPr>
          <p:cNvPr id="28" name="Text 21"/>
          <p:cNvSpPr txBox="1"/>
          <p:nvPr/>
        </p:nvSpPr>
        <p:spPr>
          <a:xfrm>
            <a:off x="841248" y="3849624"/>
            <a:ext cx="4572000" cy="393192"/>
          </a:xfrm>
          <a:prstGeom prst="rect">
            <a:avLst/>
          </a:prstGeom>
          <a:noFill/>
          <a:ln/>
        </p:spPr>
        <p:txBody>
          <a:bodyPr wrap="square" lIns="0" tIns="0" rIns="0" bIns="0" rtlCol="0" anchor="ctr"/>
          <a:lstStyle/>
          <a:p>
            <a:pPr indent="0" marL="0">
              <a:buNone/>
            </a:pPr>
            <a:r>
              <a:rPr lang="en-US" sz="1600" dirty="0">
                <a:solidFill>
                  <a:srgbClr val="0B2545"/>
                </a:solidFill>
                <a:latin typeface="Calibri" pitchFamily="34" charset="0"/>
                <a:ea typeface="Calibri" pitchFamily="34" charset="-122"/>
                <a:cs typeface="Calibri" pitchFamily="34" charset="-120"/>
              </a:rPr>
              <a:t>No transport?</a:t>
            </a:r>
            <a:endParaRPr lang="en-US" sz="1600" dirty="0"/>
          </a:p>
        </p:txBody>
      </p:sp>
      <p:pic>
        <p:nvPicPr>
          <p:cNvPr id="29" name="Image 5" descr="preencoded.png">    </p:cNvPr>
          <p:cNvPicPr>
            <a:picLocks noChangeAspect="1"/>
          </p:cNvPicPr>
          <p:nvPr/>
        </p:nvPicPr>
        <p:blipFill>
          <a:blip r:embed="rId6"/>
          <a:stretch>
            <a:fillRect/>
          </a:stretch>
        </p:blipFill>
        <p:spPr>
          <a:xfrm>
            <a:off x="5824728" y="3877056"/>
            <a:ext cx="338328" cy="338328"/>
          </a:xfrm>
          <a:prstGeom prst="rect">
            <a:avLst/>
          </a:prstGeom>
        </p:spPr>
      </p:pic>
      <p:sp>
        <p:nvSpPr>
          <p:cNvPr id="30" name="Shape 22"/>
          <p:cNvSpPr/>
          <p:nvPr/>
        </p:nvSpPr>
        <p:spPr>
          <a:xfrm>
            <a:off x="6464808" y="3849624"/>
            <a:ext cx="5120640" cy="393192"/>
          </a:xfrm>
          <a:prstGeom prst="roundRect">
            <a:avLst>
              <a:gd name="adj" fmla="val 27907"/>
            </a:avLst>
          </a:prstGeom>
          <a:solidFill>
            <a:srgbClr val="E6F4EC"/>
          </a:solidFill>
          <a:ln/>
        </p:spPr>
      </p:sp>
      <p:sp>
        <p:nvSpPr>
          <p:cNvPr id="31" name="Text 23"/>
          <p:cNvSpPr txBox="1"/>
          <p:nvPr/>
        </p:nvSpPr>
        <p:spPr>
          <a:xfrm>
            <a:off x="6693408" y="3849624"/>
            <a:ext cx="4754880" cy="393192"/>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Coordinate travel</a:t>
            </a:r>
            <a:endParaRPr lang="en-US" sz="1600" dirty="0"/>
          </a:p>
        </p:txBody>
      </p:sp>
      <p:sp>
        <p:nvSpPr>
          <p:cNvPr id="32" name="Shape 24"/>
          <p:cNvSpPr/>
          <p:nvPr/>
        </p:nvSpPr>
        <p:spPr>
          <a:xfrm>
            <a:off x="612648" y="4325112"/>
            <a:ext cx="4937760" cy="393192"/>
          </a:xfrm>
          <a:prstGeom prst="roundRect">
            <a:avLst>
              <a:gd name="adj" fmla="val 27907"/>
            </a:avLst>
          </a:prstGeom>
          <a:solidFill>
            <a:srgbClr val="F4F7FB"/>
          </a:solidFill>
          <a:ln/>
        </p:spPr>
      </p:sp>
      <p:sp>
        <p:nvSpPr>
          <p:cNvPr id="33" name="Text 25"/>
          <p:cNvSpPr txBox="1"/>
          <p:nvPr/>
        </p:nvSpPr>
        <p:spPr>
          <a:xfrm>
            <a:off x="841248" y="4325112"/>
            <a:ext cx="4572000" cy="393192"/>
          </a:xfrm>
          <a:prstGeom prst="rect">
            <a:avLst/>
          </a:prstGeom>
          <a:noFill/>
          <a:ln/>
        </p:spPr>
        <p:txBody>
          <a:bodyPr wrap="square" lIns="0" tIns="0" rIns="0" bIns="0" rtlCol="0" anchor="ctr"/>
          <a:lstStyle/>
          <a:p>
            <a:pPr indent="0" marL="0">
              <a:buNone/>
            </a:pPr>
            <a:r>
              <a:rPr lang="en-US" sz="1600" dirty="0">
                <a:solidFill>
                  <a:srgbClr val="0B2545"/>
                </a:solidFill>
                <a:latin typeface="Calibri" pitchFamily="34" charset="0"/>
                <a:ea typeface="Calibri" pitchFamily="34" charset="-122"/>
                <a:cs typeface="Calibri" pitchFamily="34" charset="-120"/>
              </a:rPr>
              <a:t>Unsure where to go?</a:t>
            </a:r>
            <a:endParaRPr lang="en-US" sz="1600" dirty="0"/>
          </a:p>
        </p:txBody>
      </p:sp>
      <p:pic>
        <p:nvPicPr>
          <p:cNvPr id="34" name="Image 6" descr="preencoded.png">    </p:cNvPr>
          <p:cNvPicPr>
            <a:picLocks noChangeAspect="1"/>
          </p:cNvPicPr>
          <p:nvPr/>
        </p:nvPicPr>
        <p:blipFill>
          <a:blip r:embed="rId7"/>
          <a:stretch>
            <a:fillRect/>
          </a:stretch>
        </p:blipFill>
        <p:spPr>
          <a:xfrm>
            <a:off x="5824728" y="4352544"/>
            <a:ext cx="338328" cy="338328"/>
          </a:xfrm>
          <a:prstGeom prst="rect">
            <a:avLst/>
          </a:prstGeom>
        </p:spPr>
      </p:pic>
      <p:sp>
        <p:nvSpPr>
          <p:cNvPr id="35" name="Shape 26"/>
          <p:cNvSpPr/>
          <p:nvPr/>
        </p:nvSpPr>
        <p:spPr>
          <a:xfrm>
            <a:off x="6464808" y="4325112"/>
            <a:ext cx="5120640" cy="393192"/>
          </a:xfrm>
          <a:prstGeom prst="roundRect">
            <a:avLst>
              <a:gd name="adj" fmla="val 27907"/>
            </a:avLst>
          </a:prstGeom>
          <a:solidFill>
            <a:srgbClr val="E6F4EC"/>
          </a:solidFill>
          <a:ln/>
        </p:spPr>
      </p:sp>
      <p:sp>
        <p:nvSpPr>
          <p:cNvPr id="36" name="Text 27"/>
          <p:cNvSpPr txBox="1"/>
          <p:nvPr/>
        </p:nvSpPr>
        <p:spPr>
          <a:xfrm>
            <a:off x="6693408" y="4325112"/>
            <a:ext cx="4754880" cy="393192"/>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Clarify where to go</a:t>
            </a:r>
            <a:endParaRPr lang="en-US" sz="1600" dirty="0"/>
          </a:p>
        </p:txBody>
      </p:sp>
      <p:sp>
        <p:nvSpPr>
          <p:cNvPr id="37" name="Shape 28"/>
          <p:cNvSpPr/>
          <p:nvPr/>
        </p:nvSpPr>
        <p:spPr>
          <a:xfrm>
            <a:off x="612648" y="4800600"/>
            <a:ext cx="4937760" cy="393192"/>
          </a:xfrm>
          <a:prstGeom prst="roundRect">
            <a:avLst>
              <a:gd name="adj" fmla="val 27907"/>
            </a:avLst>
          </a:prstGeom>
          <a:solidFill>
            <a:srgbClr val="F4F7FB"/>
          </a:solidFill>
          <a:ln/>
        </p:spPr>
      </p:sp>
      <p:sp>
        <p:nvSpPr>
          <p:cNvPr id="38" name="Text 29"/>
          <p:cNvSpPr txBox="1"/>
          <p:nvPr/>
        </p:nvSpPr>
        <p:spPr>
          <a:xfrm>
            <a:off x="841248" y="4800600"/>
            <a:ext cx="4572000" cy="393192"/>
          </a:xfrm>
          <a:prstGeom prst="rect">
            <a:avLst/>
          </a:prstGeom>
          <a:noFill/>
          <a:ln/>
        </p:spPr>
        <p:txBody>
          <a:bodyPr wrap="square" lIns="0" tIns="0" rIns="0" bIns="0" rtlCol="0" anchor="ctr"/>
          <a:lstStyle/>
          <a:p>
            <a:pPr indent="0" marL="0">
              <a:buNone/>
            </a:pPr>
            <a:r>
              <a:rPr lang="en-US" sz="1600" dirty="0">
                <a:solidFill>
                  <a:srgbClr val="0B2545"/>
                </a:solidFill>
                <a:latin typeface="Calibri" pitchFamily="34" charset="0"/>
                <a:ea typeface="Calibri" pitchFamily="34" charset="-122"/>
                <a:cs typeface="Calibri" pitchFamily="34" charset="-120"/>
              </a:rPr>
              <a:t>Service unavailable?</a:t>
            </a:r>
            <a:endParaRPr lang="en-US" sz="1600" dirty="0"/>
          </a:p>
        </p:txBody>
      </p:sp>
      <p:pic>
        <p:nvPicPr>
          <p:cNvPr id="39" name="Image 7" descr="preencoded.png">    </p:cNvPr>
          <p:cNvPicPr>
            <a:picLocks noChangeAspect="1"/>
          </p:cNvPicPr>
          <p:nvPr/>
        </p:nvPicPr>
        <p:blipFill>
          <a:blip r:embed="rId8"/>
          <a:stretch>
            <a:fillRect/>
          </a:stretch>
        </p:blipFill>
        <p:spPr>
          <a:xfrm>
            <a:off x="5824728" y="4828032"/>
            <a:ext cx="338328" cy="338328"/>
          </a:xfrm>
          <a:prstGeom prst="rect">
            <a:avLst/>
          </a:prstGeom>
        </p:spPr>
      </p:pic>
      <p:sp>
        <p:nvSpPr>
          <p:cNvPr id="40" name="Shape 30"/>
          <p:cNvSpPr/>
          <p:nvPr/>
        </p:nvSpPr>
        <p:spPr>
          <a:xfrm>
            <a:off x="6464808" y="4800600"/>
            <a:ext cx="5120640" cy="393192"/>
          </a:xfrm>
          <a:prstGeom prst="roundRect">
            <a:avLst>
              <a:gd name="adj" fmla="val 27907"/>
            </a:avLst>
          </a:prstGeom>
          <a:solidFill>
            <a:srgbClr val="E6F4EC"/>
          </a:solidFill>
          <a:ln/>
        </p:spPr>
      </p:sp>
      <p:sp>
        <p:nvSpPr>
          <p:cNvPr id="41" name="Text 31"/>
          <p:cNvSpPr txBox="1"/>
          <p:nvPr/>
        </p:nvSpPr>
        <p:spPr>
          <a:xfrm>
            <a:off x="6693408" y="4800600"/>
            <a:ext cx="4754880" cy="393192"/>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Check service with facility/doctor</a:t>
            </a:r>
            <a:endParaRPr lang="en-US" sz="1600" dirty="0"/>
          </a:p>
        </p:txBody>
      </p:sp>
      <p:sp>
        <p:nvSpPr>
          <p:cNvPr id="42" name="Shape 32"/>
          <p:cNvSpPr/>
          <p:nvPr/>
        </p:nvSpPr>
        <p:spPr>
          <a:xfrm>
            <a:off x="1843888" y="5394960"/>
            <a:ext cx="2377440" cy="502920"/>
          </a:xfrm>
          <a:prstGeom prst="roundRect">
            <a:avLst>
              <a:gd name="adj" fmla="val 49091"/>
            </a:avLst>
          </a:prstGeom>
          <a:solidFill>
            <a:srgbClr val="0B2545"/>
          </a:solidFill>
          <a:ln/>
        </p:spPr>
      </p:sp>
      <p:sp>
        <p:nvSpPr>
          <p:cNvPr id="43" name="Text 33"/>
          <p:cNvSpPr txBox="1"/>
          <p:nvPr/>
        </p:nvSpPr>
        <p:spPr>
          <a:xfrm>
            <a:off x="1843888" y="5394960"/>
            <a:ext cx="23774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Ask why</a:t>
            </a:r>
            <a:endParaRPr lang="en-US" sz="1800" dirty="0"/>
          </a:p>
        </p:txBody>
      </p:sp>
      <p:pic>
        <p:nvPicPr>
          <p:cNvPr id="44" name="Image 8" descr="preencoded.png">    </p:cNvPr>
          <p:cNvPicPr>
            <a:picLocks noChangeAspect="1"/>
          </p:cNvPicPr>
          <p:nvPr/>
        </p:nvPicPr>
        <p:blipFill>
          <a:blip r:embed="rId9"/>
          <a:stretch>
            <a:fillRect/>
          </a:stretch>
        </p:blipFill>
        <p:spPr>
          <a:xfrm>
            <a:off x="4367632" y="5440680"/>
            <a:ext cx="393192" cy="393192"/>
          </a:xfrm>
          <a:prstGeom prst="rect">
            <a:avLst/>
          </a:prstGeom>
        </p:spPr>
      </p:pic>
      <p:sp>
        <p:nvSpPr>
          <p:cNvPr id="45" name="Shape 34"/>
          <p:cNvSpPr/>
          <p:nvPr/>
        </p:nvSpPr>
        <p:spPr>
          <a:xfrm>
            <a:off x="4907128" y="5394960"/>
            <a:ext cx="2377440" cy="502920"/>
          </a:xfrm>
          <a:prstGeom prst="roundRect">
            <a:avLst>
              <a:gd name="adj" fmla="val 49091"/>
            </a:avLst>
          </a:prstGeom>
          <a:solidFill>
            <a:srgbClr val="0B2545"/>
          </a:solidFill>
          <a:ln/>
        </p:spPr>
      </p:sp>
      <p:sp>
        <p:nvSpPr>
          <p:cNvPr id="46" name="Text 35"/>
          <p:cNvSpPr txBox="1"/>
          <p:nvPr/>
        </p:nvSpPr>
        <p:spPr>
          <a:xfrm>
            <a:off x="4907128" y="5394960"/>
            <a:ext cx="23774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Match the help</a:t>
            </a:r>
            <a:endParaRPr lang="en-US" sz="1800" dirty="0"/>
          </a:p>
        </p:txBody>
      </p:sp>
      <p:pic>
        <p:nvPicPr>
          <p:cNvPr id="47" name="Image 9" descr="preencoded.png">    </p:cNvPr>
          <p:cNvPicPr>
            <a:picLocks noChangeAspect="1"/>
          </p:cNvPicPr>
          <p:nvPr/>
        </p:nvPicPr>
        <p:blipFill>
          <a:blip r:embed="rId10"/>
          <a:stretch>
            <a:fillRect/>
          </a:stretch>
        </p:blipFill>
        <p:spPr>
          <a:xfrm>
            <a:off x="7430872" y="5440680"/>
            <a:ext cx="393192" cy="393192"/>
          </a:xfrm>
          <a:prstGeom prst="rect">
            <a:avLst/>
          </a:prstGeom>
        </p:spPr>
      </p:pic>
      <p:sp>
        <p:nvSpPr>
          <p:cNvPr id="48" name="Shape 36"/>
          <p:cNvSpPr/>
          <p:nvPr/>
        </p:nvSpPr>
        <p:spPr>
          <a:xfrm>
            <a:off x="7970368" y="5394960"/>
            <a:ext cx="2377440" cy="502920"/>
          </a:xfrm>
          <a:prstGeom prst="roundRect">
            <a:avLst>
              <a:gd name="adj" fmla="val 49091"/>
            </a:avLst>
          </a:prstGeom>
          <a:solidFill>
            <a:srgbClr val="2E9E6B"/>
          </a:solidFill>
          <a:ln/>
        </p:spPr>
      </p:sp>
      <p:sp>
        <p:nvSpPr>
          <p:cNvPr id="49" name="Text 37"/>
          <p:cNvSpPr txBox="1"/>
          <p:nvPr/>
        </p:nvSpPr>
        <p:spPr>
          <a:xfrm>
            <a:off x="7970368" y="5394960"/>
            <a:ext cx="23774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Confirm</a:t>
            </a:r>
            <a:endParaRPr lang="en-US" sz="1800" dirty="0"/>
          </a:p>
        </p:txBody>
      </p:sp>
      <p:sp>
        <p:nvSpPr>
          <p:cNvPr id="50" name="Text 38"/>
          <p:cNvSpPr txBox="1"/>
          <p:nvPr/>
        </p:nvSpPr>
        <p:spPr>
          <a:xfrm>
            <a:off x="612648" y="5989320"/>
            <a:ext cx="10972800" cy="292608"/>
          </a:xfrm>
          <a:prstGeom prst="rect">
            <a:avLst/>
          </a:prstGeom>
          <a:noFill/>
          <a:ln/>
        </p:spPr>
        <p:txBody>
          <a:bodyPr wrap="square" lIns="0" tIns="0" rIns="0" bIns="0" rtlCol="0" anchor="ctr"/>
          <a:lstStyle/>
          <a:p>
            <a:pPr algn="ctr" indent="0" marL="0">
              <a:buNone/>
            </a:pPr>
            <a:r>
              <a:rPr lang="en-US" sz="1300" i="1" dirty="0">
                <a:solidFill>
                  <a:srgbClr val="334155"/>
                </a:solidFill>
                <a:latin typeface="Calibri" pitchFamily="34" charset="0"/>
                <a:ea typeface="Calibri" pitchFamily="34" charset="-122"/>
                <a:cs typeface="Calibri" pitchFamily="34" charset="-120"/>
              </a:rPr>
              <a:t>Worker confirms and acts. No funding promised. Then confirm arrival and the next step.</a:t>
            </a:r>
            <a:endParaRPr lang="en-US" sz="13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12648" y="384048"/>
            <a:ext cx="10972800" cy="274320"/>
          </a:xfrm>
          <a:prstGeom prst="rect">
            <a:avLst/>
          </a:prstGeom>
          <a:noFill/>
          <a:ln/>
        </p:spPr>
        <p:txBody>
          <a:bodyPr wrap="square" lIns="0" tIns="0" rIns="0" bIns="0" rtlCol="0" anchor="ctr"/>
          <a:lstStyle/>
          <a:p>
            <a:pPr indent="0" marL="0">
              <a:buNone/>
            </a:pPr>
            <a:r>
              <a:rPr lang="en-US" sz="1200" b="1" spc="200" kern="0" dirty="0">
                <a:solidFill>
                  <a:srgbClr val="1F6FB2"/>
                </a:solidFill>
                <a:latin typeface="Calibri" pitchFamily="34" charset="0"/>
                <a:ea typeface="Calibri" pitchFamily="34" charset="-122"/>
                <a:cs typeface="Calibri" pitchFamily="34" charset="-120"/>
              </a:rPr>
              <a:t>09 — BUILD SMALL. TEST WITH CARE.</a:t>
            </a:r>
            <a:endParaRPr lang="en-US" sz="1200" dirty="0"/>
          </a:p>
        </p:txBody>
      </p:sp>
      <p:sp>
        <p:nvSpPr>
          <p:cNvPr id="3" name="Text 1"/>
          <p:cNvSpPr txBox="1"/>
          <p:nvPr/>
        </p:nvSpPr>
        <p:spPr>
          <a:xfrm>
            <a:off x="612648" y="685800"/>
            <a:ext cx="10972800" cy="731520"/>
          </a:xfrm>
          <a:prstGeom prst="rect">
            <a:avLst/>
          </a:prstGeom>
          <a:noFill/>
          <a:ln/>
        </p:spPr>
        <p:txBody>
          <a:bodyPr wrap="square" lIns="0" tIns="0" rIns="0" bIns="0" rtlCol="0" anchor="ctr"/>
          <a:lstStyle/>
          <a:p>
            <a:pPr indent="0" marL="0">
              <a:buNone/>
            </a:pPr>
            <a:r>
              <a:rPr lang="en-US" sz="3600" b="1" dirty="0">
                <a:solidFill>
                  <a:srgbClr val="0B2545"/>
                </a:solidFill>
                <a:latin typeface="Calibri" pitchFamily="34" charset="0"/>
                <a:ea typeface="Calibri" pitchFamily="34" charset="-122"/>
                <a:cs typeface="Calibri" pitchFamily="34" charset="-120"/>
              </a:rPr>
              <a:t>Start with one referral.</a:t>
            </a:r>
            <a:endParaRPr lang="en-US" sz="3600" dirty="0"/>
          </a:p>
        </p:txBody>
      </p:sp>
      <p:sp>
        <p:nvSpPr>
          <p:cNvPr id="4" name="Shape 2"/>
          <p:cNvSpPr/>
          <p:nvPr/>
        </p:nvSpPr>
        <p:spPr>
          <a:xfrm>
            <a:off x="612648" y="1600200"/>
            <a:ext cx="2514600" cy="685800"/>
          </a:xfrm>
          <a:prstGeom prst="roundRect">
            <a:avLst>
              <a:gd name="adj" fmla="val 16000"/>
            </a:avLst>
          </a:prstGeom>
          <a:solidFill>
            <a:srgbClr val="E8F1FA"/>
          </a:solidFill>
          <a:ln/>
        </p:spPr>
      </p:sp>
      <p:sp>
        <p:nvSpPr>
          <p:cNvPr id="5" name="Shape 3"/>
          <p:cNvSpPr/>
          <p:nvPr/>
        </p:nvSpPr>
        <p:spPr>
          <a:xfrm>
            <a:off x="777240" y="1719072"/>
            <a:ext cx="457200" cy="457200"/>
          </a:xfrm>
          <a:prstGeom prst="ellipse">
            <a:avLst/>
          </a:prstGeom>
          <a:solidFill>
            <a:srgbClr val="1F6FB2"/>
          </a:solidFill>
          <a:ln/>
        </p:spPr>
      </p:sp>
      <p:sp>
        <p:nvSpPr>
          <p:cNvPr id="6" name="Text 4"/>
          <p:cNvSpPr txBox="1"/>
          <p:nvPr/>
        </p:nvSpPr>
        <p:spPr>
          <a:xfrm>
            <a:off x="777240" y="17190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7" name="Text 5"/>
          <p:cNvSpPr txBox="1"/>
          <p:nvPr/>
        </p:nvSpPr>
        <p:spPr>
          <a:xfrm>
            <a:off x="1362456" y="1600200"/>
            <a:ext cx="1691640" cy="68580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Record referral</a:t>
            </a:r>
            <a:endParaRPr lang="en-US" sz="1600" dirty="0"/>
          </a:p>
        </p:txBody>
      </p:sp>
      <p:pic>
        <p:nvPicPr>
          <p:cNvPr id="8" name="Image 0" descr="preencoded.png">    </p:cNvPr>
          <p:cNvPicPr>
            <a:picLocks noChangeAspect="1"/>
          </p:cNvPicPr>
          <p:nvPr/>
        </p:nvPicPr>
        <p:blipFill>
          <a:blip r:embed="rId1"/>
          <a:stretch>
            <a:fillRect/>
          </a:stretch>
        </p:blipFill>
        <p:spPr>
          <a:xfrm>
            <a:off x="3145536" y="1810512"/>
            <a:ext cx="274320" cy="274320"/>
          </a:xfrm>
          <a:prstGeom prst="rect">
            <a:avLst/>
          </a:prstGeom>
        </p:spPr>
      </p:pic>
      <p:sp>
        <p:nvSpPr>
          <p:cNvPr id="9" name="Shape 6"/>
          <p:cNvSpPr/>
          <p:nvPr/>
        </p:nvSpPr>
        <p:spPr>
          <a:xfrm>
            <a:off x="3401568" y="1600200"/>
            <a:ext cx="2514600" cy="685800"/>
          </a:xfrm>
          <a:prstGeom prst="roundRect">
            <a:avLst>
              <a:gd name="adj" fmla="val 16000"/>
            </a:avLst>
          </a:prstGeom>
          <a:solidFill>
            <a:srgbClr val="E8F1FA"/>
          </a:solidFill>
          <a:ln/>
        </p:spPr>
      </p:sp>
      <p:sp>
        <p:nvSpPr>
          <p:cNvPr id="10" name="Shape 7"/>
          <p:cNvSpPr/>
          <p:nvPr/>
        </p:nvSpPr>
        <p:spPr>
          <a:xfrm>
            <a:off x="3566160" y="1719072"/>
            <a:ext cx="457200" cy="457200"/>
          </a:xfrm>
          <a:prstGeom prst="ellipse">
            <a:avLst/>
          </a:prstGeom>
          <a:solidFill>
            <a:srgbClr val="1F6FB2"/>
          </a:solidFill>
          <a:ln/>
        </p:spPr>
      </p:sp>
      <p:sp>
        <p:nvSpPr>
          <p:cNvPr id="11" name="Text 8"/>
          <p:cNvSpPr txBox="1"/>
          <p:nvPr/>
        </p:nvSpPr>
        <p:spPr>
          <a:xfrm>
            <a:off x="3566160" y="17190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2" name="Text 9"/>
          <p:cNvSpPr txBox="1"/>
          <p:nvPr/>
        </p:nvSpPr>
        <p:spPr>
          <a:xfrm>
            <a:off x="4151376" y="1600200"/>
            <a:ext cx="1691640" cy="68580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Ask why</a:t>
            </a:r>
            <a:endParaRPr lang="en-US" sz="1600" dirty="0"/>
          </a:p>
        </p:txBody>
      </p:sp>
      <p:pic>
        <p:nvPicPr>
          <p:cNvPr id="13" name="Image 1" descr="preencoded.png">    </p:cNvPr>
          <p:cNvPicPr>
            <a:picLocks noChangeAspect="1"/>
          </p:cNvPicPr>
          <p:nvPr/>
        </p:nvPicPr>
        <p:blipFill>
          <a:blip r:embed="rId2"/>
          <a:stretch>
            <a:fillRect/>
          </a:stretch>
        </p:blipFill>
        <p:spPr>
          <a:xfrm>
            <a:off x="5934456" y="1810512"/>
            <a:ext cx="274320" cy="274320"/>
          </a:xfrm>
          <a:prstGeom prst="rect">
            <a:avLst/>
          </a:prstGeom>
        </p:spPr>
      </p:pic>
      <p:sp>
        <p:nvSpPr>
          <p:cNvPr id="14" name="Shape 10"/>
          <p:cNvSpPr/>
          <p:nvPr/>
        </p:nvSpPr>
        <p:spPr>
          <a:xfrm>
            <a:off x="6190488" y="1600200"/>
            <a:ext cx="2514600" cy="685800"/>
          </a:xfrm>
          <a:prstGeom prst="roundRect">
            <a:avLst>
              <a:gd name="adj" fmla="val 16000"/>
            </a:avLst>
          </a:prstGeom>
          <a:solidFill>
            <a:srgbClr val="E8F1FA"/>
          </a:solidFill>
          <a:ln/>
        </p:spPr>
      </p:sp>
      <p:sp>
        <p:nvSpPr>
          <p:cNvPr id="15" name="Shape 11"/>
          <p:cNvSpPr/>
          <p:nvPr/>
        </p:nvSpPr>
        <p:spPr>
          <a:xfrm>
            <a:off x="6355080" y="1719072"/>
            <a:ext cx="457200" cy="457200"/>
          </a:xfrm>
          <a:prstGeom prst="ellipse">
            <a:avLst/>
          </a:prstGeom>
          <a:solidFill>
            <a:srgbClr val="1F6FB2"/>
          </a:solidFill>
          <a:ln/>
        </p:spPr>
      </p:sp>
      <p:sp>
        <p:nvSpPr>
          <p:cNvPr id="16" name="Text 12"/>
          <p:cNvSpPr txBox="1"/>
          <p:nvPr/>
        </p:nvSpPr>
        <p:spPr>
          <a:xfrm>
            <a:off x="6355080" y="17190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7" name="Text 13"/>
          <p:cNvSpPr txBox="1"/>
          <p:nvPr/>
        </p:nvSpPr>
        <p:spPr>
          <a:xfrm>
            <a:off x="6940296" y="1600200"/>
            <a:ext cx="1691640" cy="68580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Match help</a:t>
            </a:r>
            <a:endParaRPr lang="en-US" sz="1600" dirty="0"/>
          </a:p>
        </p:txBody>
      </p:sp>
      <p:pic>
        <p:nvPicPr>
          <p:cNvPr id="18" name="Image 2" descr="preencoded.png">    </p:cNvPr>
          <p:cNvPicPr>
            <a:picLocks noChangeAspect="1"/>
          </p:cNvPicPr>
          <p:nvPr/>
        </p:nvPicPr>
        <p:blipFill>
          <a:blip r:embed="rId3"/>
          <a:stretch>
            <a:fillRect/>
          </a:stretch>
        </p:blipFill>
        <p:spPr>
          <a:xfrm>
            <a:off x="8723376" y="1810512"/>
            <a:ext cx="274320" cy="274320"/>
          </a:xfrm>
          <a:prstGeom prst="rect">
            <a:avLst/>
          </a:prstGeom>
        </p:spPr>
      </p:pic>
      <p:sp>
        <p:nvSpPr>
          <p:cNvPr id="19" name="Shape 14"/>
          <p:cNvSpPr/>
          <p:nvPr/>
        </p:nvSpPr>
        <p:spPr>
          <a:xfrm>
            <a:off x="8979408" y="1600200"/>
            <a:ext cx="2514600" cy="685800"/>
          </a:xfrm>
          <a:prstGeom prst="roundRect">
            <a:avLst>
              <a:gd name="adj" fmla="val 16000"/>
            </a:avLst>
          </a:prstGeom>
          <a:solidFill>
            <a:srgbClr val="E8F1FA"/>
          </a:solidFill>
          <a:ln/>
        </p:spPr>
      </p:sp>
      <p:sp>
        <p:nvSpPr>
          <p:cNvPr id="20" name="Shape 15"/>
          <p:cNvSpPr/>
          <p:nvPr/>
        </p:nvSpPr>
        <p:spPr>
          <a:xfrm>
            <a:off x="9144000" y="1719072"/>
            <a:ext cx="457200" cy="457200"/>
          </a:xfrm>
          <a:prstGeom prst="ellipse">
            <a:avLst/>
          </a:prstGeom>
          <a:solidFill>
            <a:srgbClr val="1F6FB2"/>
          </a:solidFill>
          <a:ln/>
        </p:spPr>
      </p:sp>
      <p:sp>
        <p:nvSpPr>
          <p:cNvPr id="21" name="Text 16"/>
          <p:cNvSpPr txBox="1"/>
          <p:nvPr/>
        </p:nvSpPr>
        <p:spPr>
          <a:xfrm>
            <a:off x="9144000" y="17190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2" name="Text 17"/>
          <p:cNvSpPr txBox="1"/>
          <p:nvPr/>
        </p:nvSpPr>
        <p:spPr>
          <a:xfrm>
            <a:off x="9729216" y="1600200"/>
            <a:ext cx="1691640" cy="68580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Confirm next step</a:t>
            </a:r>
            <a:endParaRPr lang="en-US" sz="1600" dirty="0"/>
          </a:p>
        </p:txBody>
      </p:sp>
      <p:sp>
        <p:nvSpPr>
          <p:cNvPr id="23" name="Shape 18"/>
          <p:cNvSpPr/>
          <p:nvPr/>
        </p:nvSpPr>
        <p:spPr>
          <a:xfrm>
            <a:off x="612648" y="2560320"/>
            <a:ext cx="2514600" cy="2971800"/>
          </a:xfrm>
          <a:prstGeom prst="roundRect">
            <a:avLst>
              <a:gd name="adj" fmla="val 4364"/>
            </a:avLst>
          </a:prstGeom>
          <a:solidFill>
            <a:srgbClr val="F4F7FB"/>
          </a:solidFill>
          <a:ln/>
        </p:spPr>
      </p:sp>
      <p:sp>
        <p:nvSpPr>
          <p:cNvPr id="24" name="Shape 19"/>
          <p:cNvSpPr/>
          <p:nvPr/>
        </p:nvSpPr>
        <p:spPr>
          <a:xfrm>
            <a:off x="886968" y="2743200"/>
            <a:ext cx="594360" cy="594360"/>
          </a:xfrm>
          <a:prstGeom prst="ellipse">
            <a:avLst/>
          </a:prstGeom>
          <a:solidFill>
            <a:srgbClr val="1F6FB2"/>
          </a:solidFill>
          <a:ln/>
        </p:spPr>
      </p:sp>
      <p:pic>
        <p:nvPicPr>
          <p:cNvPr id="25" name="Image 3" descr="preencoded.png">    </p:cNvPr>
          <p:cNvPicPr>
            <a:picLocks noChangeAspect="1"/>
          </p:cNvPicPr>
          <p:nvPr/>
        </p:nvPicPr>
        <p:blipFill>
          <a:blip r:embed="rId4"/>
          <a:stretch>
            <a:fillRect/>
          </a:stretch>
        </p:blipFill>
        <p:spPr>
          <a:xfrm>
            <a:off x="1029614" y="2885846"/>
            <a:ext cx="309067" cy="309067"/>
          </a:xfrm>
          <a:prstGeom prst="rect">
            <a:avLst/>
          </a:prstGeom>
        </p:spPr>
      </p:pic>
      <p:sp>
        <p:nvSpPr>
          <p:cNvPr id="26" name="Text 20"/>
          <p:cNvSpPr txBox="1"/>
          <p:nvPr/>
        </p:nvSpPr>
        <p:spPr>
          <a:xfrm>
            <a:off x="886968" y="3429000"/>
            <a:ext cx="2011680" cy="411480"/>
          </a:xfrm>
          <a:prstGeom prst="rect">
            <a:avLst/>
          </a:prstGeom>
          <a:noFill/>
          <a:ln/>
        </p:spPr>
        <p:txBody>
          <a:bodyPr wrap="square" lIns="0" tIns="0" rIns="0" bIns="0" rtlCol="0" anchor="ctr"/>
          <a:lstStyle/>
          <a:p>
            <a:pPr indent="0" marL="0">
              <a:buNone/>
            </a:pPr>
            <a:r>
              <a:rPr lang="en-US" sz="2100" b="1" dirty="0">
                <a:solidFill>
                  <a:srgbClr val="0B2545"/>
                </a:solidFill>
                <a:latin typeface="Calibri" pitchFamily="34" charset="0"/>
                <a:ea typeface="Calibri" pitchFamily="34" charset="-122"/>
                <a:cs typeface="Calibri" pitchFamily="34" charset="-120"/>
              </a:rPr>
              <a:t>Build</a:t>
            </a:r>
            <a:endParaRPr lang="en-US" sz="2100" dirty="0"/>
          </a:p>
        </p:txBody>
      </p:sp>
      <p:sp>
        <p:nvSpPr>
          <p:cNvPr id="27" name="Text 21"/>
          <p:cNvSpPr txBox="1"/>
          <p:nvPr/>
        </p:nvSpPr>
        <p:spPr>
          <a:xfrm>
            <a:off x="886968" y="3886200"/>
            <a:ext cx="2057400" cy="155448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Worker app + facility screen + secure database. AI reads slips and voice messages; simple checks flag referrals.</a:t>
            </a:r>
            <a:endParaRPr lang="en-US" sz="1400" dirty="0"/>
          </a:p>
        </p:txBody>
      </p:sp>
      <p:sp>
        <p:nvSpPr>
          <p:cNvPr id="28" name="Shape 22"/>
          <p:cNvSpPr/>
          <p:nvPr/>
        </p:nvSpPr>
        <p:spPr>
          <a:xfrm>
            <a:off x="3401568" y="2560320"/>
            <a:ext cx="2514600" cy="2971800"/>
          </a:xfrm>
          <a:prstGeom prst="roundRect">
            <a:avLst>
              <a:gd name="adj" fmla="val 4364"/>
            </a:avLst>
          </a:prstGeom>
          <a:solidFill>
            <a:srgbClr val="F4F7FB"/>
          </a:solidFill>
          <a:ln/>
        </p:spPr>
      </p:sp>
      <p:sp>
        <p:nvSpPr>
          <p:cNvPr id="29" name="Shape 23"/>
          <p:cNvSpPr/>
          <p:nvPr/>
        </p:nvSpPr>
        <p:spPr>
          <a:xfrm>
            <a:off x="3675888" y="2743200"/>
            <a:ext cx="594360" cy="594360"/>
          </a:xfrm>
          <a:prstGeom prst="ellipse">
            <a:avLst/>
          </a:prstGeom>
          <a:solidFill>
            <a:srgbClr val="1F6FB2"/>
          </a:solidFill>
          <a:ln/>
        </p:spPr>
      </p:sp>
      <p:pic>
        <p:nvPicPr>
          <p:cNvPr id="30" name="Image 4" descr="preencoded.png">    </p:cNvPr>
          <p:cNvPicPr>
            <a:picLocks noChangeAspect="1"/>
          </p:cNvPicPr>
          <p:nvPr/>
        </p:nvPicPr>
        <p:blipFill>
          <a:blip r:embed="rId5"/>
          <a:stretch>
            <a:fillRect/>
          </a:stretch>
        </p:blipFill>
        <p:spPr>
          <a:xfrm>
            <a:off x="3818534" y="2885846"/>
            <a:ext cx="309067" cy="309067"/>
          </a:xfrm>
          <a:prstGeom prst="rect">
            <a:avLst/>
          </a:prstGeom>
        </p:spPr>
      </p:pic>
      <p:sp>
        <p:nvSpPr>
          <p:cNvPr id="31" name="Text 24"/>
          <p:cNvSpPr txBox="1"/>
          <p:nvPr/>
        </p:nvSpPr>
        <p:spPr>
          <a:xfrm>
            <a:off x="3675888" y="3429000"/>
            <a:ext cx="2011680" cy="411480"/>
          </a:xfrm>
          <a:prstGeom prst="rect">
            <a:avLst/>
          </a:prstGeom>
          <a:noFill/>
          <a:ln/>
        </p:spPr>
        <p:txBody>
          <a:bodyPr wrap="square" lIns="0" tIns="0" rIns="0" bIns="0" rtlCol="0" anchor="ctr"/>
          <a:lstStyle/>
          <a:p>
            <a:pPr indent="0" marL="0">
              <a:buNone/>
            </a:pPr>
            <a:r>
              <a:rPr lang="en-US" sz="2100" b="1" dirty="0">
                <a:solidFill>
                  <a:srgbClr val="0B2545"/>
                </a:solidFill>
                <a:latin typeface="Calibri" pitchFamily="34" charset="0"/>
                <a:ea typeface="Calibri" pitchFamily="34" charset="-122"/>
                <a:cs typeface="Calibri" pitchFamily="34" charset="-120"/>
              </a:rPr>
              <a:t>Practical</a:t>
            </a:r>
            <a:endParaRPr lang="en-US" sz="2100" dirty="0"/>
          </a:p>
        </p:txBody>
      </p:sp>
      <p:sp>
        <p:nvSpPr>
          <p:cNvPr id="32" name="Text 25"/>
          <p:cNvSpPr txBox="1"/>
          <p:nvPr/>
        </p:nvSpPr>
        <p:spPr>
          <a:xfrm>
            <a:off x="3675888" y="3886200"/>
            <a:ext cx="2057400" cy="155448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Local-language voice, low-cost Android, no patient app. Save offline; sync and use AI when connected.</a:t>
            </a:r>
            <a:endParaRPr lang="en-US" sz="1400" dirty="0"/>
          </a:p>
        </p:txBody>
      </p:sp>
      <p:sp>
        <p:nvSpPr>
          <p:cNvPr id="33" name="Shape 26"/>
          <p:cNvSpPr/>
          <p:nvPr/>
        </p:nvSpPr>
        <p:spPr>
          <a:xfrm>
            <a:off x="6190488" y="2560320"/>
            <a:ext cx="2514600" cy="2971800"/>
          </a:xfrm>
          <a:prstGeom prst="roundRect">
            <a:avLst>
              <a:gd name="adj" fmla="val 4364"/>
            </a:avLst>
          </a:prstGeom>
          <a:solidFill>
            <a:srgbClr val="F4F7FB"/>
          </a:solidFill>
          <a:ln/>
        </p:spPr>
      </p:sp>
      <p:sp>
        <p:nvSpPr>
          <p:cNvPr id="34" name="Shape 27"/>
          <p:cNvSpPr/>
          <p:nvPr/>
        </p:nvSpPr>
        <p:spPr>
          <a:xfrm>
            <a:off x="6464808" y="2743200"/>
            <a:ext cx="594360" cy="594360"/>
          </a:xfrm>
          <a:prstGeom prst="ellipse">
            <a:avLst/>
          </a:prstGeom>
          <a:solidFill>
            <a:srgbClr val="1F6FB2"/>
          </a:solidFill>
          <a:ln/>
        </p:spPr>
      </p:sp>
      <p:pic>
        <p:nvPicPr>
          <p:cNvPr id="35" name="Image 5" descr="preencoded.png">    </p:cNvPr>
          <p:cNvPicPr>
            <a:picLocks noChangeAspect="1"/>
          </p:cNvPicPr>
          <p:nvPr/>
        </p:nvPicPr>
        <p:blipFill>
          <a:blip r:embed="rId6"/>
          <a:stretch>
            <a:fillRect/>
          </a:stretch>
        </p:blipFill>
        <p:spPr>
          <a:xfrm>
            <a:off x="6607454" y="2885846"/>
            <a:ext cx="309067" cy="309067"/>
          </a:xfrm>
          <a:prstGeom prst="rect">
            <a:avLst/>
          </a:prstGeom>
        </p:spPr>
      </p:pic>
      <p:sp>
        <p:nvSpPr>
          <p:cNvPr id="36" name="Text 28"/>
          <p:cNvSpPr txBox="1"/>
          <p:nvPr/>
        </p:nvSpPr>
        <p:spPr>
          <a:xfrm>
            <a:off x="6464808" y="3429000"/>
            <a:ext cx="2011680" cy="411480"/>
          </a:xfrm>
          <a:prstGeom prst="rect">
            <a:avLst/>
          </a:prstGeom>
          <a:noFill/>
          <a:ln/>
        </p:spPr>
        <p:txBody>
          <a:bodyPr wrap="square" lIns="0" tIns="0" rIns="0" bIns="0" rtlCol="0" anchor="ctr"/>
          <a:lstStyle/>
          <a:p>
            <a:pPr indent="0" marL="0">
              <a:buNone/>
            </a:pPr>
            <a:r>
              <a:rPr lang="en-US" sz="2100" b="1" dirty="0">
                <a:solidFill>
                  <a:srgbClr val="0B2545"/>
                </a:solidFill>
                <a:latin typeface="Calibri" pitchFamily="34" charset="0"/>
                <a:ea typeface="Calibri" pitchFamily="34" charset="-122"/>
                <a:cs typeface="Calibri" pitchFamily="34" charset="-120"/>
              </a:rPr>
              <a:t>Test first</a:t>
            </a:r>
            <a:endParaRPr lang="en-US" sz="2100" dirty="0"/>
          </a:p>
        </p:txBody>
      </p:sp>
      <p:sp>
        <p:nvSpPr>
          <p:cNvPr id="37" name="Text 29"/>
          <p:cNvSpPr txBox="1"/>
          <p:nvPr/>
        </p:nvSpPr>
        <p:spPr>
          <a:xfrm>
            <a:off x="6464808" y="3886200"/>
            <a:ext cx="2057400" cy="155448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Synthetic records, then an approved pilot at one primary health centre.</a:t>
            </a:r>
            <a:endParaRPr lang="en-US" sz="1400" dirty="0"/>
          </a:p>
        </p:txBody>
      </p:sp>
      <p:sp>
        <p:nvSpPr>
          <p:cNvPr id="38" name="Shape 30"/>
          <p:cNvSpPr/>
          <p:nvPr/>
        </p:nvSpPr>
        <p:spPr>
          <a:xfrm>
            <a:off x="8979408" y="2560320"/>
            <a:ext cx="2514600" cy="2971800"/>
          </a:xfrm>
          <a:prstGeom prst="roundRect">
            <a:avLst>
              <a:gd name="adj" fmla="val 4364"/>
            </a:avLst>
          </a:prstGeom>
          <a:solidFill>
            <a:srgbClr val="0B2545"/>
          </a:solidFill>
          <a:ln/>
        </p:spPr>
      </p:sp>
      <p:sp>
        <p:nvSpPr>
          <p:cNvPr id="39" name="Shape 31"/>
          <p:cNvSpPr/>
          <p:nvPr/>
        </p:nvSpPr>
        <p:spPr>
          <a:xfrm>
            <a:off x="9253728" y="2743200"/>
            <a:ext cx="594360" cy="594360"/>
          </a:xfrm>
          <a:prstGeom prst="ellipse">
            <a:avLst/>
          </a:prstGeom>
          <a:solidFill>
            <a:srgbClr val="2E9E6B"/>
          </a:solidFill>
          <a:ln/>
        </p:spPr>
      </p:sp>
      <p:pic>
        <p:nvPicPr>
          <p:cNvPr id="40" name="Image 6" descr="preencoded.png">    </p:cNvPr>
          <p:cNvPicPr>
            <a:picLocks noChangeAspect="1"/>
          </p:cNvPicPr>
          <p:nvPr/>
        </p:nvPicPr>
        <p:blipFill>
          <a:blip r:embed="rId7"/>
          <a:stretch>
            <a:fillRect/>
          </a:stretch>
        </p:blipFill>
        <p:spPr>
          <a:xfrm>
            <a:off x="9396374" y="2885846"/>
            <a:ext cx="309067" cy="309067"/>
          </a:xfrm>
          <a:prstGeom prst="rect">
            <a:avLst/>
          </a:prstGeom>
        </p:spPr>
      </p:pic>
      <p:sp>
        <p:nvSpPr>
          <p:cNvPr id="41" name="Text 32"/>
          <p:cNvSpPr txBox="1"/>
          <p:nvPr/>
        </p:nvSpPr>
        <p:spPr>
          <a:xfrm>
            <a:off x="9253728" y="3429000"/>
            <a:ext cx="2103120" cy="41148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Pilot metrics</a:t>
            </a:r>
            <a:endParaRPr lang="en-US" sz="2100" dirty="0"/>
          </a:p>
        </p:txBody>
      </p:sp>
      <p:sp>
        <p:nvSpPr>
          <p:cNvPr id="42" name="Text 33"/>
          <p:cNvSpPr txBox="1"/>
          <p:nvPr/>
        </p:nvSpPr>
        <p:spPr>
          <a:xfrm>
            <a:off x="9253728" y="3822192"/>
            <a:ext cx="2148840" cy="256032"/>
          </a:xfrm>
          <a:prstGeom prst="rect">
            <a:avLst/>
          </a:prstGeom>
          <a:noFill/>
          <a:ln/>
        </p:spPr>
        <p:txBody>
          <a:bodyPr wrap="square" lIns="0" tIns="0" rIns="0" bIns="0" rtlCol="0" anchor="ctr"/>
          <a:lstStyle/>
          <a:p>
            <a:pPr indent="0" marL="0">
              <a:buNone/>
            </a:pPr>
            <a:r>
              <a:rPr lang="en-US" sz="1100" i="1" dirty="0">
                <a:solidFill>
                  <a:srgbClr val="9CC7EE"/>
                </a:solidFill>
                <a:latin typeface="Calibri" pitchFamily="34" charset="0"/>
                <a:ea typeface="Calibri" pitchFamily="34" charset="-122"/>
                <a:cs typeface="Calibri" pitchFamily="34" charset="-120"/>
              </a:rPr>
              <a:t>Not results — what we would measure</a:t>
            </a:r>
            <a:endParaRPr lang="en-US" sz="1100" dirty="0"/>
          </a:p>
        </p:txBody>
      </p:sp>
      <p:sp>
        <p:nvSpPr>
          <p:cNvPr id="43" name="Text 34"/>
          <p:cNvSpPr txBox="1"/>
          <p:nvPr/>
        </p:nvSpPr>
        <p:spPr>
          <a:xfrm>
            <a:off x="9253728" y="4160520"/>
            <a:ext cx="2148840" cy="1325880"/>
          </a:xfrm>
          <a:prstGeom prst="rect">
            <a:avLst/>
          </a:prstGeom>
          <a:noFill/>
          <a:ln/>
        </p:spPr>
        <p:txBody>
          <a:bodyPr wrap="square" lIns="0" tIns="0" rIns="0" bIns="0" rtlCol="0" anchor="t"/>
          <a:lstStyle/>
          <a:p>
            <a:pPr marL="152400" indent="-152400">
              <a:spcAft>
                <a:spcPts val="300"/>
              </a:spcAft>
              <a:buSzPct val="100000"/>
              <a:buChar char="•"/>
            </a:pPr>
            <a:r>
              <a:rPr lang="en-US" sz="1400" dirty="0">
                <a:solidFill>
                  <a:srgbClr val="FFFFFF"/>
                </a:solidFill>
                <a:latin typeface="Calibri" pitchFamily="34" charset="0"/>
                <a:ea typeface="Calibri" pitchFamily="34" charset="-122"/>
                <a:cs typeface="Calibri" pitchFamily="34" charset="-120"/>
              </a:rPr>
              <a:t>Confirmed hospital arrivals</a:t>
            </a:r>
            <a:endParaRPr lang="en-US" sz="1400" dirty="0"/>
          </a:p>
          <a:p>
            <a:pPr marL="152400" indent="-152400">
              <a:spcAft>
                <a:spcPts val="300"/>
              </a:spcAft>
              <a:buSzPct val="100000"/>
              <a:buChar char="•"/>
            </a:pPr>
            <a:r>
              <a:rPr lang="en-US" sz="1400" dirty="0">
                <a:solidFill>
                  <a:srgbClr val="FFFFFF"/>
                </a:solidFill>
                <a:latin typeface="Calibri" pitchFamily="34" charset="0"/>
                <a:ea typeface="Calibri" pitchFamily="34" charset="-122"/>
                <a:cs typeface="Calibri" pitchFamily="34" charset="-120"/>
              </a:rPr>
              <a:t>Time from referral to arrival</a:t>
            </a:r>
            <a:endParaRPr lang="en-US" sz="1400" dirty="0"/>
          </a:p>
          <a:p>
            <a:pPr marL="152400" indent="-152400">
              <a:spcAft>
                <a:spcPts val="300"/>
              </a:spcAft>
              <a:buSzPct val="100000"/>
              <a:buChar char="•"/>
            </a:pPr>
            <a:r>
              <a:rPr lang="en-US" sz="1400" dirty="0">
                <a:solidFill>
                  <a:srgbClr val="FFFFFF"/>
                </a:solidFill>
                <a:latin typeface="Calibri" pitchFamily="34" charset="0"/>
                <a:ea typeface="Calibri" pitchFamily="34" charset="-122"/>
                <a:cs typeface="Calibri" pitchFamily="34" charset="-120"/>
              </a:rPr>
              <a:t>Reasons reported and worker time</a:t>
            </a:r>
            <a:endParaRPr lang="en-US" sz="1400" dirty="0"/>
          </a:p>
        </p:txBody>
      </p:sp>
      <p:sp>
        <p:nvSpPr>
          <p:cNvPr id="44" name="Shape 35"/>
          <p:cNvSpPr/>
          <p:nvPr/>
        </p:nvSpPr>
        <p:spPr>
          <a:xfrm>
            <a:off x="612648" y="5715000"/>
            <a:ext cx="10972800" cy="548640"/>
          </a:xfrm>
          <a:prstGeom prst="roundRect">
            <a:avLst>
              <a:gd name="adj" fmla="val 20000"/>
            </a:avLst>
          </a:prstGeom>
          <a:solidFill>
            <a:srgbClr val="FFFFFF"/>
          </a:solidFill>
          <a:ln w="12700">
            <a:solidFill>
              <a:srgbClr val="D5DEE8"/>
            </a:solidFill>
            <a:prstDash val="solid"/>
          </a:ln>
        </p:spPr>
      </p:sp>
      <p:pic>
        <p:nvPicPr>
          <p:cNvPr id="45" name="Image 7" descr="preencoded.png">    </p:cNvPr>
          <p:cNvPicPr>
            <a:picLocks noChangeAspect="1"/>
          </p:cNvPicPr>
          <p:nvPr/>
        </p:nvPicPr>
        <p:blipFill>
          <a:blip r:embed="rId8"/>
          <a:stretch>
            <a:fillRect/>
          </a:stretch>
        </p:blipFill>
        <p:spPr>
          <a:xfrm>
            <a:off x="822960" y="5852160"/>
            <a:ext cx="274320" cy="274320"/>
          </a:xfrm>
          <a:prstGeom prst="rect">
            <a:avLst/>
          </a:prstGeom>
        </p:spPr>
      </p:pic>
      <p:sp>
        <p:nvSpPr>
          <p:cNvPr id="46" name="Text 36"/>
          <p:cNvSpPr txBox="1"/>
          <p:nvPr/>
        </p:nvSpPr>
        <p:spPr>
          <a:xfrm>
            <a:off x="1207008" y="5715000"/>
            <a:ext cx="10241280" cy="5486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Before real use: consent, minimum data, restricted access, secure storage and human review. No pilot results or partnerships claimed.</a:t>
            </a:r>
            <a:endParaRPr lang="en-US" sz="13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1097280" y="411480"/>
            <a:ext cx="9994392" cy="274320"/>
          </a:xfrm>
          <a:prstGeom prst="rect">
            <a:avLst/>
          </a:prstGeom>
          <a:noFill/>
          <a:ln/>
        </p:spPr>
        <p:txBody>
          <a:bodyPr wrap="square" lIns="0" tIns="0" rIns="0" bIns="0" rtlCol="0" anchor="ctr"/>
          <a:lstStyle/>
          <a:p>
            <a:pPr algn="ctr" indent="0" marL="0">
              <a:buNone/>
            </a:pPr>
            <a:r>
              <a:rPr lang="en-US" sz="1200" b="1" spc="300" kern="0" dirty="0">
                <a:solidFill>
                  <a:srgbClr val="9CC7EE"/>
                </a:solidFill>
                <a:latin typeface="Calibri" pitchFamily="34" charset="0"/>
                <a:ea typeface="Calibri" pitchFamily="34" charset="-122"/>
                <a:cs typeface="Calibri" pitchFamily="34" charset="-120"/>
              </a:rPr>
              <a:t>CAREBRIDGE · PROPOSED CONCEPT</a:t>
            </a:r>
            <a:endParaRPr lang="en-US" sz="1200" dirty="0"/>
          </a:p>
        </p:txBody>
      </p:sp>
      <p:sp>
        <p:nvSpPr>
          <p:cNvPr id="3" name="Text 1"/>
          <p:cNvSpPr txBox="1"/>
          <p:nvPr/>
        </p:nvSpPr>
        <p:spPr>
          <a:xfrm>
            <a:off x="1097280" y="777240"/>
            <a:ext cx="9994392" cy="1097280"/>
          </a:xfrm>
          <a:prstGeom prst="rect">
            <a:avLst/>
          </a:prstGeom>
          <a:noFill/>
          <a:ln/>
        </p:spPr>
        <p:txBody>
          <a:bodyPr wrap="square" lIns="0" tIns="0" rIns="0" bIns="0" rtlCol="0" anchor="ctr"/>
          <a:lstStyle/>
          <a:p>
            <a:pPr algn="ctr" indent="0" marL="0">
              <a:buNone/>
            </a:pPr>
            <a:r>
              <a:rPr lang="en-US" sz="2800" i="1" dirty="0">
                <a:solidFill>
                  <a:srgbClr val="FFFFFF"/>
                </a:solidFill>
                <a:latin typeface="Calibri" pitchFamily="34" charset="0"/>
                <a:ea typeface="Calibri" pitchFamily="34" charset="-122"/>
                <a:cs typeface="Calibri" pitchFamily="34" charset="-120"/>
              </a:rPr>
              <a:t>“A patient shouldn't disappear from the healthcare system just because the next step is difficult.”</a:t>
            </a:r>
            <a:endParaRPr lang="en-US" sz="2800" dirty="0"/>
          </a:p>
        </p:txBody>
      </p:sp>
      <p:sp>
        <p:nvSpPr>
          <p:cNvPr id="4" name="Text 2"/>
          <p:cNvSpPr txBox="1"/>
          <p:nvPr/>
        </p:nvSpPr>
        <p:spPr>
          <a:xfrm>
            <a:off x="1097280" y="1920240"/>
            <a:ext cx="9994392" cy="365760"/>
          </a:xfrm>
          <a:prstGeom prst="rect">
            <a:avLst/>
          </a:prstGeom>
          <a:noFill/>
          <a:ln/>
        </p:spPr>
        <p:txBody>
          <a:bodyPr wrap="square" lIns="0" tIns="0" rIns="0" bIns="0" rtlCol="0" anchor="ctr"/>
          <a:lstStyle/>
          <a:p>
            <a:pPr algn="ctr" indent="0" marL="0">
              <a:buNone/>
            </a:pPr>
            <a:r>
              <a:rPr lang="en-US" sz="1800" dirty="0">
                <a:solidFill>
                  <a:srgbClr val="9CC7EE"/>
                </a:solidFill>
                <a:latin typeface="Calibri" pitchFamily="34" charset="0"/>
                <a:ea typeface="Calibri" pitchFamily="34" charset="-122"/>
                <a:cs typeface="Calibri" pitchFamily="34" charset="-120"/>
              </a:rPr>
              <a:t>Bridging the gap between care prescribed and care completed.</a:t>
            </a:r>
            <a:endParaRPr lang="en-US" sz="1800" dirty="0"/>
          </a:p>
        </p:txBody>
      </p:sp>
      <p:sp>
        <p:nvSpPr>
          <p:cNvPr id="5" name="Text 3"/>
          <p:cNvSpPr txBox="1"/>
          <p:nvPr/>
        </p:nvSpPr>
        <p:spPr>
          <a:xfrm>
            <a:off x="1097280" y="2514600"/>
            <a:ext cx="9994392" cy="274320"/>
          </a:xfrm>
          <a:prstGeom prst="rect">
            <a:avLst/>
          </a:prstGeom>
          <a:noFill/>
          <a:ln/>
        </p:spPr>
        <p:txBody>
          <a:bodyPr wrap="square" lIns="0" tIns="0" rIns="0" bIns="0" rtlCol="0" anchor="ctr"/>
          <a:lstStyle/>
          <a:p>
            <a:pPr algn="ctr" indent="0" marL="0">
              <a:buNone/>
            </a:pPr>
            <a:r>
              <a:rPr lang="en-US" sz="1100" b="1" spc="300" kern="0" dirty="0">
                <a:solidFill>
                  <a:srgbClr val="8DA2B8"/>
                </a:solidFill>
                <a:latin typeface="Calibri" pitchFamily="34" charset="0"/>
                <a:ea typeface="Calibri" pitchFamily="34" charset="-122"/>
                <a:cs typeface="Calibri" pitchFamily="34" charset="-120"/>
              </a:rPr>
              <a:t>CARE CONTINUUM FLOW</a:t>
            </a:r>
            <a:endParaRPr lang="en-US" sz="1100" dirty="0"/>
          </a:p>
        </p:txBody>
      </p:sp>
      <p:sp>
        <p:nvSpPr>
          <p:cNvPr id="6" name="Shape 4"/>
          <p:cNvSpPr/>
          <p:nvPr/>
        </p:nvSpPr>
        <p:spPr>
          <a:xfrm>
            <a:off x="1203808" y="2880360"/>
            <a:ext cx="1005840" cy="1005840"/>
          </a:xfrm>
          <a:prstGeom prst="ellipse">
            <a:avLst/>
          </a:prstGeom>
          <a:solidFill>
            <a:srgbClr val="1F6FB2"/>
          </a:solidFill>
          <a:ln/>
        </p:spPr>
      </p:sp>
      <p:pic>
        <p:nvPicPr>
          <p:cNvPr id="7" name="Image 0" descr="preencoded.png">    </p:cNvPr>
          <p:cNvPicPr>
            <a:picLocks noChangeAspect="1"/>
          </p:cNvPicPr>
          <p:nvPr/>
        </p:nvPicPr>
        <p:blipFill>
          <a:blip r:embed="rId1"/>
          <a:stretch>
            <a:fillRect/>
          </a:stretch>
        </p:blipFill>
        <p:spPr>
          <a:xfrm>
            <a:off x="1445209" y="3121762"/>
            <a:ext cx="523037" cy="523037"/>
          </a:xfrm>
          <a:prstGeom prst="rect">
            <a:avLst/>
          </a:prstGeom>
        </p:spPr>
      </p:pic>
      <p:sp>
        <p:nvSpPr>
          <p:cNvPr id="8" name="Text 5"/>
          <p:cNvSpPr txBox="1"/>
          <p:nvPr/>
        </p:nvSpPr>
        <p:spPr>
          <a:xfrm>
            <a:off x="792328" y="3977640"/>
            <a:ext cx="1828800" cy="256032"/>
          </a:xfrm>
          <a:prstGeom prst="rect">
            <a:avLst/>
          </a:prstGeom>
          <a:noFill/>
          <a:ln/>
        </p:spPr>
        <p:txBody>
          <a:bodyPr wrap="square" lIns="0" tIns="0" rIns="0" bIns="0" rtlCol="0" anchor="ctr"/>
          <a:lstStyle/>
          <a:p>
            <a:pPr algn="ctr" indent="0" marL="0">
              <a:buNone/>
            </a:pPr>
            <a:r>
              <a:rPr lang="en-US" sz="1200" b="1" dirty="0">
                <a:solidFill>
                  <a:srgbClr val="9CC7EE"/>
                </a:solidFill>
                <a:latin typeface="Calibri" pitchFamily="34" charset="0"/>
                <a:ea typeface="Calibri" pitchFamily="34" charset="-122"/>
                <a:cs typeface="Calibri" pitchFamily="34" charset="-120"/>
              </a:rPr>
              <a:t>01</a:t>
            </a:r>
            <a:endParaRPr lang="en-US" sz="1200" dirty="0"/>
          </a:p>
        </p:txBody>
      </p:sp>
      <p:sp>
        <p:nvSpPr>
          <p:cNvPr id="9" name="Text 6"/>
          <p:cNvSpPr txBox="1"/>
          <p:nvPr/>
        </p:nvSpPr>
        <p:spPr>
          <a:xfrm>
            <a:off x="700888" y="4233672"/>
            <a:ext cx="2011680" cy="3657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Referral</a:t>
            </a:r>
            <a:endParaRPr lang="en-US" sz="2000" dirty="0"/>
          </a:p>
        </p:txBody>
      </p:sp>
      <p:pic>
        <p:nvPicPr>
          <p:cNvPr id="10" name="Image 1" descr="preencoded.png">    </p:cNvPr>
          <p:cNvPicPr>
            <a:picLocks noChangeAspect="1"/>
          </p:cNvPicPr>
          <p:nvPr/>
        </p:nvPicPr>
        <p:blipFill>
          <a:blip r:embed="rId2"/>
          <a:stretch>
            <a:fillRect/>
          </a:stretch>
        </p:blipFill>
        <p:spPr>
          <a:xfrm>
            <a:off x="2365096" y="3154680"/>
            <a:ext cx="457200" cy="457200"/>
          </a:xfrm>
          <a:prstGeom prst="rect">
            <a:avLst/>
          </a:prstGeom>
        </p:spPr>
      </p:pic>
      <p:sp>
        <p:nvSpPr>
          <p:cNvPr id="11" name="Shape 7"/>
          <p:cNvSpPr/>
          <p:nvPr/>
        </p:nvSpPr>
        <p:spPr>
          <a:xfrm>
            <a:off x="3398368" y="2880360"/>
            <a:ext cx="1005840" cy="1005840"/>
          </a:xfrm>
          <a:prstGeom prst="ellipse">
            <a:avLst/>
          </a:prstGeom>
          <a:solidFill>
            <a:srgbClr val="1F6FB2"/>
          </a:solidFill>
          <a:ln/>
        </p:spPr>
      </p:sp>
      <p:pic>
        <p:nvPicPr>
          <p:cNvPr id="12" name="Image 2" descr="preencoded.png">    </p:cNvPr>
          <p:cNvPicPr>
            <a:picLocks noChangeAspect="1"/>
          </p:cNvPicPr>
          <p:nvPr/>
        </p:nvPicPr>
        <p:blipFill>
          <a:blip r:embed="rId3"/>
          <a:stretch>
            <a:fillRect/>
          </a:stretch>
        </p:blipFill>
        <p:spPr>
          <a:xfrm>
            <a:off x="3639769" y="3121762"/>
            <a:ext cx="523037" cy="523037"/>
          </a:xfrm>
          <a:prstGeom prst="rect">
            <a:avLst/>
          </a:prstGeom>
        </p:spPr>
      </p:pic>
      <p:sp>
        <p:nvSpPr>
          <p:cNvPr id="13" name="Text 8"/>
          <p:cNvSpPr txBox="1"/>
          <p:nvPr/>
        </p:nvSpPr>
        <p:spPr>
          <a:xfrm>
            <a:off x="2986888" y="3977640"/>
            <a:ext cx="1828800" cy="256032"/>
          </a:xfrm>
          <a:prstGeom prst="rect">
            <a:avLst/>
          </a:prstGeom>
          <a:noFill/>
          <a:ln/>
        </p:spPr>
        <p:txBody>
          <a:bodyPr wrap="square" lIns="0" tIns="0" rIns="0" bIns="0" rtlCol="0" anchor="ctr"/>
          <a:lstStyle/>
          <a:p>
            <a:pPr algn="ctr" indent="0" marL="0">
              <a:buNone/>
            </a:pPr>
            <a:r>
              <a:rPr lang="en-US" sz="1200" b="1" dirty="0">
                <a:solidFill>
                  <a:srgbClr val="9CC7EE"/>
                </a:solidFill>
                <a:latin typeface="Calibri" pitchFamily="34" charset="0"/>
                <a:ea typeface="Calibri" pitchFamily="34" charset="-122"/>
                <a:cs typeface="Calibri" pitchFamily="34" charset="-120"/>
              </a:rPr>
              <a:t>02</a:t>
            </a:r>
            <a:endParaRPr lang="en-US" sz="1200" dirty="0"/>
          </a:p>
        </p:txBody>
      </p:sp>
      <p:sp>
        <p:nvSpPr>
          <p:cNvPr id="14" name="Text 9"/>
          <p:cNvSpPr txBox="1"/>
          <p:nvPr/>
        </p:nvSpPr>
        <p:spPr>
          <a:xfrm>
            <a:off x="2895448" y="4233672"/>
            <a:ext cx="2011680" cy="3657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Ask</a:t>
            </a:r>
            <a:endParaRPr lang="en-US" sz="2000" dirty="0"/>
          </a:p>
        </p:txBody>
      </p:sp>
      <p:pic>
        <p:nvPicPr>
          <p:cNvPr id="15" name="Image 3" descr="preencoded.png">    </p:cNvPr>
          <p:cNvPicPr>
            <a:picLocks noChangeAspect="1"/>
          </p:cNvPicPr>
          <p:nvPr/>
        </p:nvPicPr>
        <p:blipFill>
          <a:blip r:embed="rId4"/>
          <a:stretch>
            <a:fillRect/>
          </a:stretch>
        </p:blipFill>
        <p:spPr>
          <a:xfrm>
            <a:off x="4559656" y="3154680"/>
            <a:ext cx="457200" cy="457200"/>
          </a:xfrm>
          <a:prstGeom prst="rect">
            <a:avLst/>
          </a:prstGeom>
        </p:spPr>
      </p:pic>
      <p:sp>
        <p:nvSpPr>
          <p:cNvPr id="16" name="Shape 10"/>
          <p:cNvSpPr/>
          <p:nvPr/>
        </p:nvSpPr>
        <p:spPr>
          <a:xfrm>
            <a:off x="5592928" y="2880360"/>
            <a:ext cx="1005840" cy="1005840"/>
          </a:xfrm>
          <a:prstGeom prst="ellipse">
            <a:avLst/>
          </a:prstGeom>
          <a:solidFill>
            <a:srgbClr val="1F6FB2"/>
          </a:solidFill>
          <a:ln/>
        </p:spPr>
      </p:sp>
      <p:pic>
        <p:nvPicPr>
          <p:cNvPr id="17" name="Image 4" descr="preencoded.png">    </p:cNvPr>
          <p:cNvPicPr>
            <a:picLocks noChangeAspect="1"/>
          </p:cNvPicPr>
          <p:nvPr/>
        </p:nvPicPr>
        <p:blipFill>
          <a:blip r:embed="rId5"/>
          <a:stretch>
            <a:fillRect/>
          </a:stretch>
        </p:blipFill>
        <p:spPr>
          <a:xfrm>
            <a:off x="5834329" y="3121762"/>
            <a:ext cx="523037" cy="523037"/>
          </a:xfrm>
          <a:prstGeom prst="rect">
            <a:avLst/>
          </a:prstGeom>
        </p:spPr>
      </p:pic>
      <p:sp>
        <p:nvSpPr>
          <p:cNvPr id="18" name="Text 11"/>
          <p:cNvSpPr txBox="1"/>
          <p:nvPr/>
        </p:nvSpPr>
        <p:spPr>
          <a:xfrm>
            <a:off x="5181448" y="3977640"/>
            <a:ext cx="1828800" cy="256032"/>
          </a:xfrm>
          <a:prstGeom prst="rect">
            <a:avLst/>
          </a:prstGeom>
          <a:noFill/>
          <a:ln/>
        </p:spPr>
        <p:txBody>
          <a:bodyPr wrap="square" lIns="0" tIns="0" rIns="0" bIns="0" rtlCol="0" anchor="ctr"/>
          <a:lstStyle/>
          <a:p>
            <a:pPr algn="ctr" indent="0" marL="0">
              <a:buNone/>
            </a:pPr>
            <a:r>
              <a:rPr lang="en-US" sz="1200" b="1" dirty="0">
                <a:solidFill>
                  <a:srgbClr val="9CC7EE"/>
                </a:solidFill>
                <a:latin typeface="Calibri" pitchFamily="34" charset="0"/>
                <a:ea typeface="Calibri" pitchFamily="34" charset="-122"/>
                <a:cs typeface="Calibri" pitchFamily="34" charset="-120"/>
              </a:rPr>
              <a:t>03</a:t>
            </a:r>
            <a:endParaRPr lang="en-US" sz="1200" dirty="0"/>
          </a:p>
        </p:txBody>
      </p:sp>
      <p:sp>
        <p:nvSpPr>
          <p:cNvPr id="19" name="Text 12"/>
          <p:cNvSpPr txBox="1"/>
          <p:nvPr/>
        </p:nvSpPr>
        <p:spPr>
          <a:xfrm>
            <a:off x="5090008" y="4233672"/>
            <a:ext cx="2011680" cy="3657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Help</a:t>
            </a:r>
            <a:endParaRPr lang="en-US" sz="2000" dirty="0"/>
          </a:p>
        </p:txBody>
      </p:sp>
      <p:pic>
        <p:nvPicPr>
          <p:cNvPr id="20" name="Image 5" descr="preencoded.png">    </p:cNvPr>
          <p:cNvPicPr>
            <a:picLocks noChangeAspect="1"/>
          </p:cNvPicPr>
          <p:nvPr/>
        </p:nvPicPr>
        <p:blipFill>
          <a:blip r:embed="rId6"/>
          <a:stretch>
            <a:fillRect/>
          </a:stretch>
        </p:blipFill>
        <p:spPr>
          <a:xfrm>
            <a:off x="6754216" y="3154680"/>
            <a:ext cx="457200" cy="457200"/>
          </a:xfrm>
          <a:prstGeom prst="rect">
            <a:avLst/>
          </a:prstGeom>
        </p:spPr>
      </p:pic>
      <p:sp>
        <p:nvSpPr>
          <p:cNvPr id="21" name="Shape 13"/>
          <p:cNvSpPr/>
          <p:nvPr/>
        </p:nvSpPr>
        <p:spPr>
          <a:xfrm>
            <a:off x="7787488" y="2880360"/>
            <a:ext cx="1005840" cy="1005840"/>
          </a:xfrm>
          <a:prstGeom prst="ellipse">
            <a:avLst/>
          </a:prstGeom>
          <a:solidFill>
            <a:srgbClr val="2E9E6B"/>
          </a:solidFill>
          <a:ln/>
        </p:spPr>
      </p:sp>
      <p:pic>
        <p:nvPicPr>
          <p:cNvPr id="22" name="Image 6" descr="preencoded.png">    </p:cNvPr>
          <p:cNvPicPr>
            <a:picLocks noChangeAspect="1"/>
          </p:cNvPicPr>
          <p:nvPr/>
        </p:nvPicPr>
        <p:blipFill>
          <a:blip r:embed="rId7"/>
          <a:stretch>
            <a:fillRect/>
          </a:stretch>
        </p:blipFill>
        <p:spPr>
          <a:xfrm>
            <a:off x="8028889" y="3121762"/>
            <a:ext cx="523037" cy="523037"/>
          </a:xfrm>
          <a:prstGeom prst="rect">
            <a:avLst/>
          </a:prstGeom>
        </p:spPr>
      </p:pic>
      <p:sp>
        <p:nvSpPr>
          <p:cNvPr id="23" name="Text 14"/>
          <p:cNvSpPr txBox="1"/>
          <p:nvPr/>
        </p:nvSpPr>
        <p:spPr>
          <a:xfrm>
            <a:off x="7376008" y="3977640"/>
            <a:ext cx="1828800" cy="256032"/>
          </a:xfrm>
          <a:prstGeom prst="rect">
            <a:avLst/>
          </a:prstGeom>
          <a:noFill/>
          <a:ln/>
        </p:spPr>
        <p:txBody>
          <a:bodyPr wrap="square" lIns="0" tIns="0" rIns="0" bIns="0" rtlCol="0" anchor="ctr"/>
          <a:lstStyle/>
          <a:p>
            <a:pPr algn="ctr" indent="0" marL="0">
              <a:buNone/>
            </a:pPr>
            <a:r>
              <a:rPr lang="en-US" sz="1200" b="1" dirty="0">
                <a:solidFill>
                  <a:srgbClr val="9CC7EE"/>
                </a:solidFill>
                <a:latin typeface="Calibri" pitchFamily="34" charset="0"/>
                <a:ea typeface="Calibri" pitchFamily="34" charset="-122"/>
                <a:cs typeface="Calibri" pitchFamily="34" charset="-120"/>
              </a:rPr>
              <a:t>04</a:t>
            </a:r>
            <a:endParaRPr lang="en-US" sz="1200" dirty="0"/>
          </a:p>
        </p:txBody>
      </p:sp>
      <p:sp>
        <p:nvSpPr>
          <p:cNvPr id="24" name="Text 15"/>
          <p:cNvSpPr txBox="1"/>
          <p:nvPr/>
        </p:nvSpPr>
        <p:spPr>
          <a:xfrm>
            <a:off x="7284568" y="4233672"/>
            <a:ext cx="2011680" cy="3657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Confirm</a:t>
            </a:r>
            <a:endParaRPr lang="en-US" sz="2000" dirty="0"/>
          </a:p>
        </p:txBody>
      </p:sp>
      <p:pic>
        <p:nvPicPr>
          <p:cNvPr id="25" name="Image 7" descr="preencoded.png">    </p:cNvPr>
          <p:cNvPicPr>
            <a:picLocks noChangeAspect="1"/>
          </p:cNvPicPr>
          <p:nvPr/>
        </p:nvPicPr>
        <p:blipFill>
          <a:blip r:embed="rId8"/>
          <a:stretch>
            <a:fillRect/>
          </a:stretch>
        </p:blipFill>
        <p:spPr>
          <a:xfrm>
            <a:off x="8948776" y="3154680"/>
            <a:ext cx="457200" cy="457200"/>
          </a:xfrm>
          <a:prstGeom prst="rect">
            <a:avLst/>
          </a:prstGeom>
        </p:spPr>
      </p:pic>
      <p:sp>
        <p:nvSpPr>
          <p:cNvPr id="26" name="Shape 16"/>
          <p:cNvSpPr/>
          <p:nvPr/>
        </p:nvSpPr>
        <p:spPr>
          <a:xfrm>
            <a:off x="9982048" y="2880360"/>
            <a:ext cx="1005840" cy="1005840"/>
          </a:xfrm>
          <a:prstGeom prst="ellipse">
            <a:avLst/>
          </a:prstGeom>
          <a:solidFill>
            <a:srgbClr val="1F6FB2"/>
          </a:solidFill>
          <a:ln/>
        </p:spPr>
      </p:sp>
      <p:pic>
        <p:nvPicPr>
          <p:cNvPr id="27" name="Image 8" descr="preencoded.png">    </p:cNvPr>
          <p:cNvPicPr>
            <a:picLocks noChangeAspect="1"/>
          </p:cNvPicPr>
          <p:nvPr/>
        </p:nvPicPr>
        <p:blipFill>
          <a:blip r:embed="rId9"/>
          <a:stretch>
            <a:fillRect/>
          </a:stretch>
        </p:blipFill>
        <p:spPr>
          <a:xfrm>
            <a:off x="10223449" y="3121762"/>
            <a:ext cx="523037" cy="523037"/>
          </a:xfrm>
          <a:prstGeom prst="rect">
            <a:avLst/>
          </a:prstGeom>
        </p:spPr>
      </p:pic>
      <p:sp>
        <p:nvSpPr>
          <p:cNvPr id="28" name="Text 17"/>
          <p:cNvSpPr txBox="1"/>
          <p:nvPr/>
        </p:nvSpPr>
        <p:spPr>
          <a:xfrm>
            <a:off x="9570568" y="3977640"/>
            <a:ext cx="1828800" cy="256032"/>
          </a:xfrm>
          <a:prstGeom prst="rect">
            <a:avLst/>
          </a:prstGeom>
          <a:noFill/>
          <a:ln/>
        </p:spPr>
        <p:txBody>
          <a:bodyPr wrap="square" lIns="0" tIns="0" rIns="0" bIns="0" rtlCol="0" anchor="ctr"/>
          <a:lstStyle/>
          <a:p>
            <a:pPr algn="ctr" indent="0" marL="0">
              <a:buNone/>
            </a:pPr>
            <a:r>
              <a:rPr lang="en-US" sz="1200" b="1" dirty="0">
                <a:solidFill>
                  <a:srgbClr val="9CC7EE"/>
                </a:solidFill>
                <a:latin typeface="Calibri" pitchFamily="34" charset="0"/>
                <a:ea typeface="Calibri" pitchFamily="34" charset="-122"/>
                <a:cs typeface="Calibri" pitchFamily="34" charset="-120"/>
              </a:rPr>
              <a:t>05</a:t>
            </a:r>
            <a:endParaRPr lang="en-US" sz="1200" dirty="0"/>
          </a:p>
        </p:txBody>
      </p:sp>
      <p:sp>
        <p:nvSpPr>
          <p:cNvPr id="29" name="Text 18"/>
          <p:cNvSpPr txBox="1"/>
          <p:nvPr/>
        </p:nvSpPr>
        <p:spPr>
          <a:xfrm>
            <a:off x="9479128" y="4233672"/>
            <a:ext cx="2011680" cy="3657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Next Step</a:t>
            </a:r>
            <a:endParaRPr lang="en-US" sz="2000" dirty="0"/>
          </a:p>
        </p:txBody>
      </p:sp>
      <p:sp>
        <p:nvSpPr>
          <p:cNvPr id="30" name="Text 19"/>
          <p:cNvSpPr txBox="1"/>
          <p:nvPr/>
        </p:nvSpPr>
        <p:spPr>
          <a:xfrm>
            <a:off x="1097280" y="4800600"/>
            <a:ext cx="9994392"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We don't replace the doctor. We help the worker support the patient.</a:t>
            </a:r>
            <a:endParaRPr lang="en-US" sz="1800" dirty="0"/>
          </a:p>
        </p:txBody>
      </p:sp>
      <p:sp>
        <p:nvSpPr>
          <p:cNvPr id="31" name="Text 20"/>
          <p:cNvSpPr txBox="1"/>
          <p:nvPr/>
        </p:nvSpPr>
        <p:spPr>
          <a:xfrm>
            <a:off x="1097280" y="5166360"/>
            <a:ext cx="9994392" cy="292608"/>
          </a:xfrm>
          <a:prstGeom prst="rect">
            <a:avLst/>
          </a:prstGeom>
          <a:noFill/>
          <a:ln/>
        </p:spPr>
        <p:txBody>
          <a:bodyPr wrap="square" lIns="0" tIns="0" rIns="0" bIns="0" rtlCol="0" anchor="ctr"/>
          <a:lstStyle/>
          <a:p>
            <a:pPr algn="ctr" indent="0" marL="0">
              <a:buNone/>
            </a:pPr>
            <a:r>
              <a:rPr lang="en-US" sz="1300" dirty="0">
                <a:solidFill>
                  <a:srgbClr val="C9D8E8"/>
                </a:solidFill>
                <a:latin typeface="Calibri" pitchFamily="34" charset="0"/>
                <a:ea typeface="Calibri" pitchFamily="34" charset="-122"/>
                <a:cs typeface="Calibri" pitchFamily="34" charset="-120"/>
              </a:rPr>
              <a:t>Empowering community health teams to ensure follow-through without clinical overhead.</a:t>
            </a:r>
            <a:endParaRPr lang="en-US" sz="1300" dirty="0"/>
          </a:p>
        </p:txBody>
      </p:sp>
      <p:sp>
        <p:nvSpPr>
          <p:cNvPr id="32" name="Text 21"/>
          <p:cNvSpPr txBox="1"/>
          <p:nvPr/>
        </p:nvSpPr>
        <p:spPr>
          <a:xfrm>
            <a:off x="1097280" y="5669280"/>
            <a:ext cx="9994392" cy="457200"/>
          </a:xfrm>
          <a:prstGeom prst="rect">
            <a:avLst/>
          </a:prstGeom>
          <a:noFill/>
          <a:ln/>
        </p:spPr>
        <p:txBody>
          <a:bodyPr wrap="square" lIns="0" tIns="0" rIns="0" bIns="0" rtlCol="0" anchor="ctr"/>
          <a:lstStyle/>
          <a:p>
            <a:pPr algn="ctr" indent="0" marL="0">
              <a:buNone/>
            </a:pPr>
            <a:r>
              <a:rPr lang="en-US" sz="2600" b="1" spc="400" kern="0" dirty="0">
                <a:solidFill>
                  <a:srgbClr val="FFFFFF"/>
                </a:solidFill>
                <a:latin typeface="Calibri" pitchFamily="34" charset="0"/>
                <a:ea typeface="Calibri" pitchFamily="34" charset="-122"/>
                <a:cs typeface="Calibri" pitchFamily="34" charset="-120"/>
              </a:rPr>
              <a:t>CAREBRIDGE</a:t>
            </a:r>
            <a:endParaRPr lang="en-US" sz="2600" dirty="0"/>
          </a:p>
        </p:txBody>
      </p:sp>
      <p:sp>
        <p:nvSpPr>
          <p:cNvPr id="33" name="Text 22"/>
          <p:cNvSpPr txBox="1"/>
          <p:nvPr/>
        </p:nvSpPr>
        <p:spPr>
          <a:xfrm>
            <a:off x="1097280" y="6126480"/>
            <a:ext cx="9994392" cy="320040"/>
          </a:xfrm>
          <a:prstGeom prst="rect">
            <a:avLst/>
          </a:prstGeom>
          <a:noFill/>
          <a:ln/>
        </p:spPr>
        <p:txBody>
          <a:bodyPr wrap="square" lIns="0" tIns="0" rIns="0" bIns="0" rtlCol="0" anchor="ctr"/>
          <a:lstStyle/>
          <a:p>
            <a:pPr algn="ctr" indent="0" marL="0">
              <a:buNone/>
            </a:pPr>
            <a:r>
              <a:rPr lang="en-US" sz="1500" dirty="0">
                <a:solidFill>
                  <a:srgbClr val="9CC7EE"/>
                </a:solidFill>
                <a:latin typeface="Calibri" pitchFamily="34" charset="0"/>
                <a:ea typeface="Calibri" pitchFamily="34" charset="-122"/>
                <a:cs typeface="Calibri" pitchFamily="34" charset="-120"/>
              </a:rPr>
              <a:t>Team Missionary — IIT Guwahati</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Team Missionary — IIT Guwahati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CAREBRIDGE</dc:title>
  <dc:subject>Bridging the gap between care prescribed and care completed.</dc:subject>
  <dc:creator>Team Missionary</dc:creator>
  <cp:lastModifiedBy>Team Missionary</cp:lastModifiedBy>
  <cp:revision>1</cp:revision>
  <dcterms:created xsi:type="dcterms:W3CDTF">2026-10-05T14:07:13Z</dcterms:created>
  <dcterms:modified xsi:type="dcterms:W3CDTF">2026-10-05T14:07:13Z</dcterms:modified>
</cp:coreProperties>
</file>